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62" r:id="rId5"/>
    <p:sldId id="259" r:id="rId6"/>
    <p:sldId id="263" r:id="rId7"/>
    <p:sldId id="260" r:id="rId8"/>
    <p:sldId id="272" r:id="rId9"/>
    <p:sldId id="261" r:id="rId10"/>
    <p:sldId id="266" r:id="rId11"/>
    <p:sldId id="275" r:id="rId12"/>
    <p:sldId id="276" r:id="rId13"/>
    <p:sldId id="277" r:id="rId14"/>
    <p:sldId id="278" r:id="rId15"/>
    <p:sldId id="268" r:id="rId16"/>
    <p:sldId id="279" r:id="rId17"/>
    <p:sldId id="273" r:id="rId18"/>
    <p:sldId id="270" r:id="rId19"/>
    <p:sldId id="280" r:id="rId20"/>
    <p:sldId id="265" r:id="rId21"/>
    <p:sldId id="274" r:id="rId22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4885"/>
    <a:srgbClr val="20B3A1"/>
    <a:srgbClr val="D6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91" autoAdjust="0"/>
    <p:restoredTop sz="96314" autoAdjust="0"/>
  </p:normalViewPr>
  <p:slideViewPr>
    <p:cSldViewPr snapToGrid="0" showGuides="1">
      <p:cViewPr varScale="1">
        <p:scale>
          <a:sx n="100" d="100"/>
          <a:sy n="100" d="100"/>
        </p:scale>
        <p:origin x="56" y="192"/>
      </p:cViewPr>
      <p:guideLst>
        <p:guide orient="horz" pos="116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8B725A-BFDD-44D0-A8D3-61766B07B7F1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C932-0C1F-4C94-8B9A-3944ABBB4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7105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020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073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796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621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9878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746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0137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6495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36378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1819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164DC-A1E6-0DF8-01DD-AD0815EB3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638413-D975-2138-17DA-40F69CFC80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EF8B08-2459-BBCF-8E0E-6516E7F6F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A2E807-9D9F-21B2-9CA0-75C3451BD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2301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D63A6-8F02-C270-15C7-9B5636F43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D30F45-870B-C384-A45F-3A7A06F764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E8C5477-A63E-B55B-C70F-006CEDB65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02ED3D-6449-2ADD-317B-DEBD7E3039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1761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FF5B8-8181-AD4C-AD6A-1E3433FFD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C1AA29-EDF6-6ADF-6F06-CDB451D78E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B184540-EF08-FCA0-B8D8-ACFF9DCF0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B7B40E-9647-16C1-B36F-49F077E904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9650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89B0B-C602-EDD7-991C-73D8968AA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BCBDD0-7463-41E8-DB42-C8E961B4E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C4BE18-9A50-A90F-4100-ECDED17A5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9A8DA9-5ABB-6DF4-2E85-E07F9A0563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2219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8552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177C2-5B0E-6C2C-A1FF-99B70585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3A970E-66EB-1981-AFA8-6344FA3609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AF83C5-1CD2-3A38-05D5-B3DB4A5202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0A8D1C-771C-48EB-A455-E6C5633EE9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81694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4419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1131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78EA6-912E-FD7A-CA2E-588744454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8DA2AE-E91B-024E-E3D1-5EAFDCE18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50EA5BD-3914-24D7-3ED0-F9CCC2C4F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D605D6-DD53-9CEC-EAB8-D79D33430B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6386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5671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CC932-0C1F-4C94-8B9A-3944ABBB4E3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820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440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981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556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9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6548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78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765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421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586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612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6F278-ABF0-48CA-ADF0-1D43CCA8A181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705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F6F278-ABF0-48CA-ADF0-1D43CCA8A181}" type="datetimeFigureOut">
              <a:rPr lang="zh-CN" altLang="en-US" smtClean="0"/>
              <a:t>2026/1/13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799FB-52B8-4698-BECF-01ADD9E846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820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984658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45805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984658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403122" y="405580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tx1">
                <a:alpha val="3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302437" y="1996447"/>
            <a:ext cx="75871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开源趋势与影响力分析平台</a:t>
            </a:r>
            <a:endParaRPr lang="zh-CN" altLang="en-US" sz="4800" dirty="0">
              <a:solidFill>
                <a:srgbClr val="1C4885"/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887738" y="4595686"/>
            <a:ext cx="441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人：李颖珊     汇报时间：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5401597" y="3738717"/>
            <a:ext cx="1388806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439528" y="2870743"/>
            <a:ext cx="711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 TREND AND INFLUENCE ANALYSIS PLATFORM </a:t>
            </a:r>
            <a:endParaRPr lang="zh-CN" altLang="en-US" dirty="0">
              <a:solidFill>
                <a:srgbClr val="1C48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0280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988709" y="5737122"/>
            <a:ext cx="3957485" cy="825909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45804" y="294968"/>
            <a:ext cx="3957485" cy="825909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03122" y="449825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tx1">
                <a:alpha val="3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908282" y="1533116"/>
            <a:ext cx="2325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 dirty="0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目录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08283" y="1152768"/>
            <a:ext cx="23259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000" dirty="0">
                <a:solidFill>
                  <a:srgbClr val="1C4885"/>
                </a:solidFill>
                <a:latin typeface="FuturaBookC" charset="-52"/>
                <a:ea typeface="微软雅黑" panose="020B0503020204020204" pitchFamily="34" charset="-122"/>
              </a:rPr>
              <a:t>CONTENT</a:t>
            </a:r>
            <a:endParaRPr lang="zh-CN" altLang="en-US" sz="2000" dirty="0">
              <a:solidFill>
                <a:srgbClr val="1C4885"/>
              </a:solidFill>
              <a:latin typeface="FuturaBookC" charset="-5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908283" y="2971597"/>
            <a:ext cx="643774" cy="643774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FuturaBookC" charset="-52"/>
              </a:rPr>
              <a:t>01</a:t>
            </a:r>
            <a:endParaRPr lang="zh-CN" altLang="en-US" sz="1200" b="1" dirty="0">
              <a:solidFill>
                <a:schemeClr val="bg1"/>
              </a:solidFill>
              <a:latin typeface="FuturaBookC" charset="-5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672779" y="3057251"/>
            <a:ext cx="3701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>
                <a:latin typeface="FZZhengHeiS-DB-GB" panose="02000000000000000000" pitchFamily="2" charset="0"/>
                <a:ea typeface="FZZhengHeiS-DB-GB" panose="02000000000000000000" pitchFamily="2" charset="0"/>
              </a:rPr>
              <a:t>项目背景及目标</a:t>
            </a:r>
            <a:endParaRPr lang="zh-CN" altLang="en-US" sz="2400" dirty="0"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495346" y="2971597"/>
            <a:ext cx="643774" cy="643774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FuturaBookC" charset="-52"/>
              </a:rPr>
              <a:t>02</a:t>
            </a:r>
            <a:endParaRPr lang="zh-CN" altLang="en-US" sz="1200" b="1" dirty="0">
              <a:solidFill>
                <a:schemeClr val="bg1"/>
              </a:solidFill>
              <a:latin typeface="FuturaBookC" charset="-5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259841" y="3057251"/>
            <a:ext cx="3701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>
                <a:latin typeface="FZZhengHeiS-DB-GB" panose="02000000000000000000" pitchFamily="2" charset="0"/>
                <a:ea typeface="FZZhengHeiS-DB-GB" panose="02000000000000000000" pitchFamily="2" charset="0"/>
              </a:rPr>
              <a:t>系统架构及技术</a:t>
            </a:r>
            <a:endParaRPr lang="zh-CN" altLang="en-US" sz="2400" dirty="0"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1908283" y="3978602"/>
            <a:ext cx="643774" cy="643774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FuturaBookC" charset="-52"/>
              </a:rPr>
              <a:t>03</a:t>
            </a:r>
            <a:endParaRPr lang="zh-CN" altLang="en-US" sz="1200" b="1" dirty="0">
              <a:solidFill>
                <a:schemeClr val="bg1"/>
              </a:solidFill>
              <a:latin typeface="FuturaBookC" charset="-5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672778" y="4069656"/>
            <a:ext cx="3701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>
                <a:latin typeface="FZZhengHeiS-DB-GB" panose="02000000000000000000" pitchFamily="2" charset="0"/>
                <a:ea typeface="FZZhengHeiS-DB-GB" panose="02000000000000000000" pitchFamily="2" charset="0"/>
              </a:rPr>
              <a:t>数据处理流程</a:t>
            </a:r>
            <a:endParaRPr lang="zh-CN" altLang="en-US" sz="2400" dirty="0"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6495346" y="3978602"/>
            <a:ext cx="643774" cy="643774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FuturaBookC" charset="-52"/>
              </a:rPr>
              <a:t>04</a:t>
            </a:r>
            <a:endParaRPr lang="zh-CN" altLang="en-US" sz="1200" b="1" dirty="0">
              <a:solidFill>
                <a:schemeClr val="bg1"/>
              </a:solidFill>
              <a:latin typeface="FuturaBookC" charset="-5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259840" y="4069656"/>
            <a:ext cx="3701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>
                <a:latin typeface="FZZhengHeiS-DB-GB" panose="02000000000000000000" pitchFamily="2" charset="0"/>
                <a:ea typeface="FZZhengHeiS-DB-GB" panose="02000000000000000000" pitchFamily="2" charset="0"/>
              </a:rPr>
              <a:t>核心功能模块</a:t>
            </a:r>
            <a:endParaRPr lang="zh-CN" altLang="en-US" sz="2400" dirty="0"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F9ECE27-86CE-0910-9612-CB56E172EFB2}"/>
              </a:ext>
            </a:extLst>
          </p:cNvPr>
          <p:cNvSpPr/>
          <p:nvPr/>
        </p:nvSpPr>
        <p:spPr>
          <a:xfrm>
            <a:off x="1908282" y="4985607"/>
            <a:ext cx="643774" cy="643774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bg1"/>
                </a:solidFill>
                <a:latin typeface="FuturaBookC" charset="-52"/>
              </a:rPr>
              <a:t>05</a:t>
            </a:r>
            <a:endParaRPr lang="zh-CN" altLang="en-US" sz="1200" b="1" dirty="0">
              <a:solidFill>
                <a:schemeClr val="bg1"/>
              </a:solidFill>
              <a:latin typeface="FuturaBookC" charset="-5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E403E6A-FBA3-8C2A-6620-D6E9C6A27EA0}"/>
              </a:ext>
            </a:extLst>
          </p:cNvPr>
          <p:cNvSpPr txBox="1"/>
          <p:nvPr/>
        </p:nvSpPr>
        <p:spPr>
          <a:xfrm>
            <a:off x="2672777" y="5076661"/>
            <a:ext cx="3701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>
                <a:latin typeface="FZZhengHeiS-DB-GB" panose="02000000000000000000" pitchFamily="2" charset="0"/>
                <a:ea typeface="FZZhengHeiS-DB-GB" panose="02000000000000000000" pitchFamily="2" charset="0"/>
              </a:rPr>
              <a:t>项目价值及应用</a:t>
            </a:r>
            <a:endParaRPr lang="zh-CN" altLang="en-US" sz="2400" dirty="0"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87FB3776-E571-06FF-71F9-1DA2656D7296}"/>
              </a:ext>
            </a:extLst>
          </p:cNvPr>
          <p:cNvSpPr/>
          <p:nvPr/>
        </p:nvSpPr>
        <p:spPr>
          <a:xfrm>
            <a:off x="6495345" y="4985607"/>
            <a:ext cx="643774" cy="643774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bg1"/>
                </a:solidFill>
                <a:latin typeface="FuturaBookC" charset="-52"/>
              </a:rPr>
              <a:t>06</a:t>
            </a:r>
            <a:endParaRPr lang="zh-CN" altLang="en-US" sz="1200" b="1" dirty="0">
              <a:solidFill>
                <a:schemeClr val="bg1"/>
              </a:solidFill>
              <a:latin typeface="FuturaBookC" charset="-5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694D066-A555-C3E6-4768-69F5B254BC50}"/>
              </a:ext>
            </a:extLst>
          </p:cNvPr>
          <p:cNvSpPr txBox="1"/>
          <p:nvPr/>
        </p:nvSpPr>
        <p:spPr>
          <a:xfrm>
            <a:off x="7259839" y="5076661"/>
            <a:ext cx="3701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>
                <a:latin typeface="FZZhengHeiS-DB-GB" panose="02000000000000000000" pitchFamily="2" charset="0"/>
                <a:ea typeface="FZZhengHeiS-DB-GB" panose="02000000000000000000" pitchFamily="2" charset="0"/>
              </a:rPr>
              <a:t>项目优势及展望</a:t>
            </a:r>
            <a:endParaRPr lang="zh-CN" altLang="en-US" sz="2400" dirty="0"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99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984658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03122" y="449825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rgbClr val="02615A">
                <a:alpha val="3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887301" y="2420811"/>
            <a:ext cx="1592179" cy="1592179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b="1" dirty="0">
                <a:solidFill>
                  <a:schemeClr val="bg1"/>
                </a:solidFill>
                <a:latin typeface="FuturaBookC" pitchFamily="2" charset="-52"/>
              </a:rPr>
              <a:t>1</a:t>
            </a:r>
            <a:endParaRPr lang="zh-CN" altLang="en-US" sz="13800" b="1" dirty="0">
              <a:solidFill>
                <a:schemeClr val="bg1"/>
              </a:solidFill>
              <a:latin typeface="FuturaBookC" pitchFamily="2" charset="-5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76985" y="2659559"/>
            <a:ext cx="57603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项目背景及目标</a:t>
            </a:r>
            <a:endParaRPr lang="zh-CN" altLang="en-US" sz="4400" dirty="0">
              <a:solidFill>
                <a:srgbClr val="1C4885"/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663554" y="3667747"/>
            <a:ext cx="1112406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32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96413" y="383509"/>
            <a:ext cx="2839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项目背景及目标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04649" y="840662"/>
            <a:ext cx="22515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FuturaBookC" charset="-52"/>
                <a:ea typeface="微软雅黑" panose="020B0503020204020204" pitchFamily="34" charset="-122"/>
              </a:rPr>
              <a:t>BACKGROUND AND GOALS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FuturaBookC" charset="-5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>
            <a:off x="6164983" y="1483084"/>
            <a:ext cx="1362525" cy="988578"/>
            <a:chOff x="6177683" y="1666134"/>
            <a:chExt cx="1362525" cy="988578"/>
          </a:xfrm>
          <a:solidFill>
            <a:srgbClr val="1C4885"/>
          </a:solidFill>
        </p:grpSpPr>
        <p:sp>
          <p:nvSpPr>
            <p:cNvPr id="28" name="矩形 27"/>
            <p:cNvSpPr/>
            <p:nvPr/>
          </p:nvSpPr>
          <p:spPr>
            <a:xfrm rot="5400000">
              <a:off x="5743333" y="2100484"/>
              <a:ext cx="988578" cy="1198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6297561" y="1666134"/>
              <a:ext cx="1242647" cy="1036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矩形 30"/>
          <p:cNvSpPr/>
          <p:nvPr/>
        </p:nvSpPr>
        <p:spPr>
          <a:xfrm>
            <a:off x="6284860" y="1586756"/>
            <a:ext cx="4842879" cy="11503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6284860" y="3007335"/>
            <a:ext cx="4842879" cy="11503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6284860" y="4412590"/>
            <a:ext cx="4842879" cy="11503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>
          <a:xfrm>
            <a:off x="6164983" y="2895918"/>
            <a:ext cx="1362525" cy="988578"/>
            <a:chOff x="6177683" y="1666134"/>
            <a:chExt cx="1362525" cy="988578"/>
          </a:xfrm>
          <a:solidFill>
            <a:srgbClr val="1C4885"/>
          </a:solidFill>
        </p:grpSpPr>
        <p:sp>
          <p:nvSpPr>
            <p:cNvPr id="35" name="矩形 34"/>
            <p:cNvSpPr/>
            <p:nvPr/>
          </p:nvSpPr>
          <p:spPr>
            <a:xfrm rot="5400000">
              <a:off x="5743333" y="2100484"/>
              <a:ext cx="988578" cy="1198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6297561" y="1666134"/>
              <a:ext cx="1242647" cy="1036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164983" y="4314499"/>
            <a:ext cx="1362525" cy="988578"/>
            <a:chOff x="6177683" y="1666134"/>
            <a:chExt cx="1362525" cy="988578"/>
          </a:xfrm>
          <a:solidFill>
            <a:srgbClr val="1C4885"/>
          </a:solidFill>
        </p:grpSpPr>
        <p:sp>
          <p:nvSpPr>
            <p:cNvPr id="38" name="矩形 37"/>
            <p:cNvSpPr/>
            <p:nvPr/>
          </p:nvSpPr>
          <p:spPr>
            <a:xfrm rot="5400000">
              <a:off x="5743333" y="2100484"/>
              <a:ext cx="988578" cy="11987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6297561" y="1666134"/>
              <a:ext cx="1242647" cy="10367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6404739" y="1789970"/>
            <a:ext cx="10323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FuturaBookC" pitchFamily="2" charset="-52"/>
              </a:rPr>
              <a:t>01</a:t>
            </a:r>
            <a:endParaRPr lang="zh-CN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FuturaBookC" pitchFamily="2" charset="-5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404739" y="3220917"/>
            <a:ext cx="10323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FuturaBookC" pitchFamily="2" charset="-52"/>
              </a:rPr>
              <a:t>02</a:t>
            </a:r>
            <a:endParaRPr lang="zh-CN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FuturaBookC" pitchFamily="2" charset="-5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404739" y="4617760"/>
            <a:ext cx="10323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FuturaBookC" pitchFamily="2" charset="-52"/>
              </a:rPr>
              <a:t>03</a:t>
            </a:r>
            <a:endParaRPr lang="zh-CN" altLang="en-US" sz="4000" dirty="0">
              <a:solidFill>
                <a:schemeClr val="tx1">
                  <a:lumMod val="85000"/>
                  <a:lumOff val="15000"/>
                </a:schemeClr>
              </a:solidFill>
              <a:latin typeface="FuturaBookC" pitchFamily="2" charset="-5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437127" y="1900333"/>
            <a:ext cx="32533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开源生态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：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GitHub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项目数量呈指数级增长，成为软件行业创新核心动力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437126" y="3313250"/>
            <a:ext cx="3235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行业痛点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：缺乏客观量化评估标准、技术趋势洞察不足、数据检索效率低下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437126" y="4710093"/>
            <a:ext cx="3300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项目价值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：将分散开源数据转化为结构化决策依据，助力开源生态健康发展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pic>
        <p:nvPicPr>
          <p:cNvPr id="3" name="图片 2" descr="男人拿着笔记本电脑的桌子&#10;&#10;AI 生成的内容可能不正确。">
            <a:extLst>
              <a:ext uri="{FF2B5EF4-FFF2-40B4-BE49-F238E27FC236}">
                <a16:creationId xmlns:a16="http://schemas.microsoft.com/office/drawing/2014/main" id="{26EE7539-D9A8-9AA8-6F36-F9E127D953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4" r="26268" b="8796"/>
          <a:stretch>
            <a:fillRect/>
          </a:stretch>
        </p:blipFill>
        <p:spPr>
          <a:xfrm>
            <a:off x="719308" y="1505844"/>
            <a:ext cx="4659304" cy="398064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0CDCF7C-64DC-2729-2FC9-E196FA1EE6C4}"/>
              </a:ext>
            </a:extLst>
          </p:cNvPr>
          <p:cNvSpPr txBox="1"/>
          <p:nvPr/>
        </p:nvSpPr>
        <p:spPr>
          <a:xfrm>
            <a:off x="710052" y="5877577"/>
            <a:ext cx="10417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——  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将分散、无序的开源数据转化为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结构化、可视化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的决策依据，为不同角色用户提供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精准参考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，同时也为开源生态的健康发展提供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数据支撑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。 </a:t>
            </a:r>
          </a:p>
        </p:txBody>
      </p:sp>
    </p:spTree>
    <p:extLst>
      <p:ext uri="{BB962C8B-B14F-4D97-AF65-F5344CB8AC3E}">
        <p14:creationId xmlns:p14="http://schemas.microsoft.com/office/powerpoint/2010/main" val="2573606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984658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03122" y="449825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rgbClr val="02615A">
                <a:alpha val="3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887301" y="2420811"/>
            <a:ext cx="1592179" cy="1592179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b="1" dirty="0">
                <a:solidFill>
                  <a:schemeClr val="bg1"/>
                </a:solidFill>
                <a:latin typeface="FuturaBookC" pitchFamily="2" charset="-52"/>
              </a:rPr>
              <a:t>2</a:t>
            </a:r>
            <a:endParaRPr lang="zh-CN" altLang="en-US" sz="13800" b="1" dirty="0">
              <a:solidFill>
                <a:schemeClr val="bg1"/>
              </a:solidFill>
              <a:latin typeface="FuturaBookC" pitchFamily="2" charset="-5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70635" y="2659559"/>
            <a:ext cx="57603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系统架构与技术</a:t>
            </a:r>
            <a:endParaRPr lang="zh-CN" altLang="en-US" sz="4400" dirty="0">
              <a:solidFill>
                <a:srgbClr val="1C4885"/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657204" y="3667747"/>
            <a:ext cx="1112406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8720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96413" y="424125"/>
            <a:ext cx="2839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系统架构与技术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04649" y="840662"/>
            <a:ext cx="27783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FuturaBookC" charset="-52"/>
                <a:ea typeface="微软雅黑" panose="020B0503020204020204" pitchFamily="34" charset="-122"/>
              </a:rPr>
              <a:t>STRUCTURE AND TECHNOLOGY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FuturaBookC" charset="-5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上箭头 7"/>
          <p:cNvSpPr/>
          <p:nvPr/>
        </p:nvSpPr>
        <p:spPr>
          <a:xfrm>
            <a:off x="4796515" y="2699655"/>
            <a:ext cx="820057" cy="3367314"/>
          </a:xfrm>
          <a:prstGeom prst="upArrow">
            <a:avLst>
              <a:gd name="adj1" fmla="val 50000"/>
              <a:gd name="adj2" fmla="val 180974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锐字逼格青春粗黑体简2.0" panose="02010604000000000000" pitchFamily="2" charset="-122"/>
              <a:ea typeface="锐字逼格青春粗黑体简2.0" panose="02010604000000000000" pitchFamily="2" charset="-122"/>
            </a:endParaRPr>
          </a:p>
        </p:txBody>
      </p:sp>
      <p:sp>
        <p:nvSpPr>
          <p:cNvPr id="9" name="上箭头 8"/>
          <p:cNvSpPr/>
          <p:nvPr/>
        </p:nvSpPr>
        <p:spPr>
          <a:xfrm>
            <a:off x="6642094" y="3207656"/>
            <a:ext cx="820057" cy="2873828"/>
          </a:xfrm>
          <a:prstGeom prst="upArrow">
            <a:avLst>
              <a:gd name="adj1" fmla="val 50000"/>
              <a:gd name="adj2" fmla="val 180974"/>
            </a:avLst>
          </a:prstGeom>
          <a:solidFill>
            <a:srgbClr val="1C488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锐字逼格青春粗黑体简2.0" panose="02010604000000000000" pitchFamily="2" charset="-122"/>
              <a:ea typeface="锐字逼格青春粗黑体简2.0" panose="02010604000000000000" pitchFamily="2" charset="-122"/>
            </a:endParaRPr>
          </a:p>
        </p:txBody>
      </p:sp>
      <p:sp>
        <p:nvSpPr>
          <p:cNvPr id="10" name="上箭头 9"/>
          <p:cNvSpPr/>
          <p:nvPr/>
        </p:nvSpPr>
        <p:spPr>
          <a:xfrm>
            <a:off x="6068781" y="3715655"/>
            <a:ext cx="820057" cy="2365829"/>
          </a:xfrm>
          <a:prstGeom prst="upArrow">
            <a:avLst>
              <a:gd name="adj1" fmla="val 50000"/>
              <a:gd name="adj2" fmla="val 180974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锐字逼格青春粗黑体简2.0" panose="02010604000000000000" pitchFamily="2" charset="-122"/>
              <a:ea typeface="锐字逼格青春粗黑体简2.0" panose="02010604000000000000" pitchFamily="2" charset="-122"/>
            </a:endParaRPr>
          </a:p>
        </p:txBody>
      </p:sp>
      <p:sp>
        <p:nvSpPr>
          <p:cNvPr id="11" name="上箭头 10"/>
          <p:cNvSpPr/>
          <p:nvPr/>
        </p:nvSpPr>
        <p:spPr>
          <a:xfrm>
            <a:off x="5359629" y="2169887"/>
            <a:ext cx="820057" cy="3911598"/>
          </a:xfrm>
          <a:prstGeom prst="upArrow">
            <a:avLst>
              <a:gd name="adj1" fmla="val 50000"/>
              <a:gd name="adj2" fmla="val 180974"/>
            </a:avLst>
          </a:prstGeom>
          <a:solidFill>
            <a:srgbClr val="1C488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锐字逼格青春粗黑体简2.0" panose="02010604000000000000" pitchFamily="2" charset="-122"/>
              <a:ea typeface="锐字逼格青春粗黑体简2.0" panose="02010604000000000000" pitchFamily="2" charset="-122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3964754" y="6066969"/>
            <a:ext cx="1446804" cy="791031"/>
          </a:xfrm>
          <a:custGeom>
            <a:avLst/>
            <a:gdLst>
              <a:gd name="connsiteX0" fmla="*/ 1031189 w 1446804"/>
              <a:gd name="connsiteY0" fmla="*/ 0 h 791031"/>
              <a:gd name="connsiteX1" fmla="*/ 1446804 w 1446804"/>
              <a:gd name="connsiteY1" fmla="*/ 0 h 791031"/>
              <a:gd name="connsiteX2" fmla="*/ 415615 w 1446804"/>
              <a:gd name="connsiteY2" fmla="*/ 791031 h 791031"/>
              <a:gd name="connsiteX3" fmla="*/ 0 w 1446804"/>
              <a:gd name="connsiteY3" fmla="*/ 791031 h 791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6804" h="791031">
                <a:moveTo>
                  <a:pt x="1031189" y="0"/>
                </a:moveTo>
                <a:lnTo>
                  <a:pt x="1446804" y="0"/>
                </a:lnTo>
                <a:lnTo>
                  <a:pt x="415615" y="791031"/>
                </a:lnTo>
                <a:lnTo>
                  <a:pt x="0" y="791031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任意多边形 12"/>
          <p:cNvSpPr/>
          <p:nvPr/>
        </p:nvSpPr>
        <p:spPr>
          <a:xfrm flipH="1">
            <a:off x="6848116" y="6081484"/>
            <a:ext cx="1381828" cy="776516"/>
          </a:xfrm>
          <a:custGeom>
            <a:avLst/>
            <a:gdLst>
              <a:gd name="connsiteX0" fmla="*/ 1381828 w 1381828"/>
              <a:gd name="connsiteY0" fmla="*/ 0 h 776516"/>
              <a:gd name="connsiteX1" fmla="*/ 979618 w 1381828"/>
              <a:gd name="connsiteY1" fmla="*/ 0 h 776516"/>
              <a:gd name="connsiteX2" fmla="*/ 0 w 1381828"/>
              <a:gd name="connsiteY2" fmla="*/ 776516 h 776516"/>
              <a:gd name="connsiteX3" fmla="*/ 402210 w 1381828"/>
              <a:gd name="connsiteY3" fmla="*/ 776516 h 776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1828" h="776516">
                <a:moveTo>
                  <a:pt x="1381828" y="0"/>
                </a:moveTo>
                <a:lnTo>
                  <a:pt x="979618" y="0"/>
                </a:lnTo>
                <a:lnTo>
                  <a:pt x="0" y="776516"/>
                </a:lnTo>
                <a:lnTo>
                  <a:pt x="402210" y="776516"/>
                </a:lnTo>
                <a:close/>
              </a:path>
            </a:pathLst>
          </a:cu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5444302" y="6022726"/>
            <a:ext cx="650084" cy="835275"/>
          </a:xfrm>
          <a:custGeom>
            <a:avLst/>
            <a:gdLst>
              <a:gd name="connsiteX0" fmla="*/ 129013 w 650084"/>
              <a:gd name="connsiteY0" fmla="*/ 0 h 835275"/>
              <a:gd name="connsiteX1" fmla="*/ 521070 w 650084"/>
              <a:gd name="connsiteY1" fmla="*/ 0 h 835275"/>
              <a:gd name="connsiteX2" fmla="*/ 650084 w 650084"/>
              <a:gd name="connsiteY2" fmla="*/ 835275 h 835275"/>
              <a:gd name="connsiteX3" fmla="*/ 0 w 650084"/>
              <a:gd name="connsiteY3" fmla="*/ 835275 h 835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0084" h="835275">
                <a:moveTo>
                  <a:pt x="129013" y="0"/>
                </a:moveTo>
                <a:lnTo>
                  <a:pt x="521070" y="0"/>
                </a:lnTo>
                <a:lnTo>
                  <a:pt x="650084" y="835275"/>
                </a:lnTo>
                <a:lnTo>
                  <a:pt x="0" y="835275"/>
                </a:lnTo>
                <a:close/>
              </a:path>
            </a:pathLst>
          </a:cu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任意多边形 14"/>
          <p:cNvSpPr/>
          <p:nvPr/>
        </p:nvSpPr>
        <p:spPr>
          <a:xfrm flipH="1">
            <a:off x="6262620" y="6066969"/>
            <a:ext cx="858228" cy="791031"/>
          </a:xfrm>
          <a:custGeom>
            <a:avLst/>
            <a:gdLst>
              <a:gd name="connsiteX0" fmla="*/ 858228 w 858228"/>
              <a:gd name="connsiteY0" fmla="*/ 0 h 791031"/>
              <a:gd name="connsiteX1" fmla="*/ 448189 w 858228"/>
              <a:gd name="connsiteY1" fmla="*/ 0 h 791031"/>
              <a:gd name="connsiteX2" fmla="*/ 0 w 858228"/>
              <a:gd name="connsiteY2" fmla="*/ 791031 h 791031"/>
              <a:gd name="connsiteX3" fmla="*/ 410039 w 858228"/>
              <a:gd name="connsiteY3" fmla="*/ 791031 h 791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8228" h="791031">
                <a:moveTo>
                  <a:pt x="858228" y="0"/>
                </a:moveTo>
                <a:lnTo>
                  <a:pt x="448189" y="0"/>
                </a:lnTo>
                <a:lnTo>
                  <a:pt x="0" y="791031"/>
                </a:lnTo>
                <a:lnTo>
                  <a:pt x="410039" y="791031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925867" y="1910604"/>
            <a:ext cx="2225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三层架构设计</a:t>
            </a:r>
            <a:endParaRPr lang="zh-CN" altLang="en-US" dirty="0">
              <a:solidFill>
                <a:srgbClr val="1C4885"/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06129" y="2249158"/>
            <a:ext cx="30447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实现前端界面层、数据处理层、数据存储层的解耦，保障系统可扩展性与维护性，各层通过标准化数据格式实现高效流转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925867" y="3633335"/>
            <a:ext cx="2225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defRPr>
                <a:solidFill>
                  <a:schemeClr val="bg1"/>
                </a:solidFill>
                <a:effectLst>
                  <a:outerShdw blurRad="152400" dist="50800" dir="5400000" algn="ctr" rotWithShape="0">
                    <a:schemeClr val="tx1"/>
                  </a:outerShdw>
                </a:effectLst>
                <a:latin typeface="FZZhengHeiS-DB-GB" panose="02000000000000000000" pitchFamily="2" charset="0"/>
                <a:ea typeface="FZZhengHeiS-DB-GB" panose="02000000000000000000" pitchFamily="2" charset="0"/>
              </a:defRPr>
            </a:lvl1pPr>
          </a:lstStyle>
          <a:p>
            <a:r>
              <a:rPr lang="zh-CN" altLang="en-US">
                <a:solidFill>
                  <a:srgbClr val="1C4885"/>
                </a:solidFill>
                <a:effectLst/>
              </a:rPr>
              <a:t>数据流转</a:t>
            </a:r>
            <a:endParaRPr lang="zh-CN" altLang="en-US" dirty="0">
              <a:solidFill>
                <a:srgbClr val="1C4885"/>
              </a:solidFill>
              <a:effectLst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106129" y="3971889"/>
            <a:ext cx="3044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原始数据→处理分析→结果存储→前端展示→交互刷新，全流程自动化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885779" y="1910306"/>
            <a:ext cx="2225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前端</a:t>
            </a:r>
            <a:endParaRPr lang="zh-CN" altLang="en-US" dirty="0">
              <a:solidFill>
                <a:srgbClr val="1C4885"/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885779" y="2265746"/>
            <a:ext cx="3158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HTML+CSS+JavaScript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、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Bootstrap 5.0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、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ECharts 5.4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（响应式 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UI + 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交互式可视化）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885779" y="2876406"/>
            <a:ext cx="2225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defRPr>
                <a:solidFill>
                  <a:schemeClr val="bg1"/>
                </a:solidFill>
                <a:effectLst>
                  <a:outerShdw blurRad="152400" dist="50800" dir="5400000" algn="ctr" rotWithShape="0">
                    <a:schemeClr val="tx1"/>
                  </a:outerShdw>
                </a:effectLst>
                <a:latin typeface="FZZhengHeiS-DB-GB" panose="02000000000000000000" pitchFamily="2" charset="0"/>
                <a:ea typeface="FZZhengHeiS-DB-GB" panose="02000000000000000000" pitchFamily="2" charset="0"/>
              </a:defRPr>
            </a:lvl1pPr>
          </a:lstStyle>
          <a:p>
            <a:pPr algn="l"/>
            <a:r>
              <a:rPr lang="zh-CN" altLang="en-US">
                <a:solidFill>
                  <a:srgbClr val="1C4885"/>
                </a:solidFill>
                <a:effectLst/>
              </a:rPr>
              <a:t>数据处理</a:t>
            </a:r>
            <a:endParaRPr lang="zh-CN" altLang="en-US" dirty="0">
              <a:solidFill>
                <a:srgbClr val="1C4885"/>
              </a:solidFill>
              <a:effectLst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885779" y="3231846"/>
            <a:ext cx="3158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Python 3.8+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、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Pandas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、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NumPy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、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Scikit-learn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（高效数据处理 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+ 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预测分析）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5E80689-4F6C-1B6C-C6F7-30B3DF231349}"/>
              </a:ext>
            </a:extLst>
          </p:cNvPr>
          <p:cNvSpPr txBox="1"/>
          <p:nvPr/>
        </p:nvSpPr>
        <p:spPr>
          <a:xfrm>
            <a:off x="7885779" y="3854949"/>
            <a:ext cx="2225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defRPr>
                <a:solidFill>
                  <a:schemeClr val="bg1"/>
                </a:solidFill>
                <a:effectLst>
                  <a:outerShdw blurRad="152400" dist="50800" dir="5400000" algn="ctr" rotWithShape="0">
                    <a:schemeClr val="tx1"/>
                  </a:outerShdw>
                </a:effectLst>
                <a:latin typeface="FZZhengHeiS-DB-GB" panose="02000000000000000000" pitchFamily="2" charset="0"/>
                <a:ea typeface="FZZhengHeiS-DB-GB" panose="02000000000000000000" pitchFamily="2" charset="0"/>
              </a:defRPr>
            </a:lvl1pPr>
          </a:lstStyle>
          <a:p>
            <a:pPr algn="l"/>
            <a:r>
              <a:rPr lang="zh-CN" altLang="en-US">
                <a:solidFill>
                  <a:srgbClr val="1C4885"/>
                </a:solidFill>
                <a:effectLst/>
              </a:rPr>
              <a:t>部署运行</a:t>
            </a:r>
            <a:endParaRPr lang="zh-CN" altLang="en-US" dirty="0">
              <a:solidFill>
                <a:srgbClr val="1C4885"/>
              </a:solidFill>
              <a:effectLst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A194BF9-7824-5643-2053-4E66316548C3}"/>
              </a:ext>
            </a:extLst>
          </p:cNvPr>
          <p:cNvSpPr txBox="1"/>
          <p:nvPr/>
        </p:nvSpPr>
        <p:spPr>
          <a:xfrm>
            <a:off x="7885779" y="4210389"/>
            <a:ext cx="3158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Python http.server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、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Git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（轻量化部署 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+ 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版本控制）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971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984658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03122" y="449825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rgbClr val="02615A">
                <a:alpha val="3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887301" y="2420811"/>
            <a:ext cx="1592179" cy="1592179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b="1" dirty="0">
                <a:solidFill>
                  <a:schemeClr val="bg1"/>
                </a:solidFill>
                <a:latin typeface="FuturaBookC" pitchFamily="2" charset="-52"/>
              </a:rPr>
              <a:t>3</a:t>
            </a:r>
            <a:endParaRPr lang="zh-CN" altLang="en-US" sz="13800" b="1" dirty="0">
              <a:solidFill>
                <a:schemeClr val="bg1"/>
              </a:solidFill>
              <a:latin typeface="FuturaBookC" pitchFamily="2" charset="-5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83335" y="2659559"/>
            <a:ext cx="57603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数据处理流程</a:t>
            </a:r>
            <a:endParaRPr lang="zh-CN" altLang="en-US" sz="4400" dirty="0">
              <a:solidFill>
                <a:srgbClr val="1C4885"/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669904" y="3667747"/>
            <a:ext cx="1112406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15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04648" y="409927"/>
            <a:ext cx="253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数据处理流程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04649" y="840662"/>
            <a:ext cx="22515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FuturaBookC" charset="-52"/>
                <a:ea typeface="微软雅黑" panose="020B0503020204020204" pitchFamily="34" charset="-122"/>
              </a:rPr>
              <a:t>DATA PROCESSING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FuturaBookC" charset="-5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 7"/>
          <p:cNvSpPr/>
          <p:nvPr/>
        </p:nvSpPr>
        <p:spPr>
          <a:xfrm rot="8100000">
            <a:off x="6435337" y="1402782"/>
            <a:ext cx="2818805" cy="2055195"/>
          </a:xfrm>
          <a:custGeom>
            <a:avLst/>
            <a:gdLst>
              <a:gd name="connsiteX0" fmla="*/ 1027597 w 2818805"/>
              <a:gd name="connsiteY0" fmla="*/ 2055195 h 2055195"/>
              <a:gd name="connsiteX1" fmla="*/ 254013 w 2818805"/>
              <a:gd name="connsiteY1" fmla="*/ 1281610 h 2055195"/>
              <a:gd name="connsiteX2" fmla="*/ 0 w 2818805"/>
              <a:gd name="connsiteY2" fmla="*/ 1027597 h 2055195"/>
              <a:gd name="connsiteX3" fmla="*/ 254013 w 2818805"/>
              <a:gd name="connsiteY3" fmla="*/ 773585 h 2055195"/>
              <a:gd name="connsiteX4" fmla="*/ 1027597 w 2818805"/>
              <a:gd name="connsiteY4" fmla="*/ 0 h 2055195"/>
              <a:gd name="connsiteX5" fmla="*/ 1281610 w 2818805"/>
              <a:gd name="connsiteY5" fmla="*/ 254013 h 2055195"/>
              <a:gd name="connsiteX6" fmla="*/ 668098 w 2818805"/>
              <a:gd name="connsiteY6" fmla="*/ 867524 h 2055195"/>
              <a:gd name="connsiteX7" fmla="*/ 2818805 w 2818805"/>
              <a:gd name="connsiteY7" fmla="*/ 867524 h 2055195"/>
              <a:gd name="connsiteX8" fmla="*/ 2818805 w 2818805"/>
              <a:gd name="connsiteY8" fmla="*/ 1187670 h 2055195"/>
              <a:gd name="connsiteX9" fmla="*/ 668098 w 2818805"/>
              <a:gd name="connsiteY9" fmla="*/ 1187670 h 2055195"/>
              <a:gd name="connsiteX10" fmla="*/ 1281610 w 2818805"/>
              <a:gd name="connsiteY10" fmla="*/ 1801182 h 2055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18805" h="2055195">
                <a:moveTo>
                  <a:pt x="1027597" y="2055195"/>
                </a:moveTo>
                <a:lnTo>
                  <a:pt x="254013" y="1281610"/>
                </a:lnTo>
                <a:lnTo>
                  <a:pt x="0" y="1027597"/>
                </a:lnTo>
                <a:lnTo>
                  <a:pt x="254013" y="773585"/>
                </a:lnTo>
                <a:lnTo>
                  <a:pt x="1027597" y="0"/>
                </a:lnTo>
                <a:lnTo>
                  <a:pt x="1281610" y="254013"/>
                </a:lnTo>
                <a:lnTo>
                  <a:pt x="668098" y="867524"/>
                </a:lnTo>
                <a:lnTo>
                  <a:pt x="2818805" y="867524"/>
                </a:lnTo>
                <a:lnTo>
                  <a:pt x="2818805" y="1187670"/>
                </a:lnTo>
                <a:lnTo>
                  <a:pt x="668098" y="1187670"/>
                </a:lnTo>
                <a:lnTo>
                  <a:pt x="1281610" y="180118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 8"/>
          <p:cNvSpPr/>
          <p:nvPr/>
        </p:nvSpPr>
        <p:spPr>
          <a:xfrm rot="8100000">
            <a:off x="4552689" y="2045041"/>
            <a:ext cx="2818805" cy="2055195"/>
          </a:xfrm>
          <a:custGeom>
            <a:avLst/>
            <a:gdLst>
              <a:gd name="connsiteX0" fmla="*/ 1027597 w 2818805"/>
              <a:gd name="connsiteY0" fmla="*/ 2055195 h 2055195"/>
              <a:gd name="connsiteX1" fmla="*/ 254013 w 2818805"/>
              <a:gd name="connsiteY1" fmla="*/ 1281610 h 2055195"/>
              <a:gd name="connsiteX2" fmla="*/ 0 w 2818805"/>
              <a:gd name="connsiteY2" fmla="*/ 1027597 h 2055195"/>
              <a:gd name="connsiteX3" fmla="*/ 254013 w 2818805"/>
              <a:gd name="connsiteY3" fmla="*/ 773585 h 2055195"/>
              <a:gd name="connsiteX4" fmla="*/ 1027597 w 2818805"/>
              <a:gd name="connsiteY4" fmla="*/ 0 h 2055195"/>
              <a:gd name="connsiteX5" fmla="*/ 1281610 w 2818805"/>
              <a:gd name="connsiteY5" fmla="*/ 254013 h 2055195"/>
              <a:gd name="connsiteX6" fmla="*/ 668098 w 2818805"/>
              <a:gd name="connsiteY6" fmla="*/ 867524 h 2055195"/>
              <a:gd name="connsiteX7" fmla="*/ 2818805 w 2818805"/>
              <a:gd name="connsiteY7" fmla="*/ 867524 h 2055195"/>
              <a:gd name="connsiteX8" fmla="*/ 2818805 w 2818805"/>
              <a:gd name="connsiteY8" fmla="*/ 1187670 h 2055195"/>
              <a:gd name="connsiteX9" fmla="*/ 668098 w 2818805"/>
              <a:gd name="connsiteY9" fmla="*/ 1187670 h 2055195"/>
              <a:gd name="connsiteX10" fmla="*/ 1281610 w 2818805"/>
              <a:gd name="connsiteY10" fmla="*/ 1801182 h 2055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18805" h="2055195">
                <a:moveTo>
                  <a:pt x="1027597" y="2055195"/>
                </a:moveTo>
                <a:lnTo>
                  <a:pt x="254013" y="1281610"/>
                </a:lnTo>
                <a:lnTo>
                  <a:pt x="0" y="1027597"/>
                </a:lnTo>
                <a:lnTo>
                  <a:pt x="254013" y="773585"/>
                </a:lnTo>
                <a:lnTo>
                  <a:pt x="1027597" y="0"/>
                </a:lnTo>
                <a:lnTo>
                  <a:pt x="1281610" y="254013"/>
                </a:lnTo>
                <a:lnTo>
                  <a:pt x="668098" y="867524"/>
                </a:lnTo>
                <a:lnTo>
                  <a:pt x="2818805" y="867524"/>
                </a:lnTo>
                <a:lnTo>
                  <a:pt x="2818805" y="1187670"/>
                </a:lnTo>
                <a:lnTo>
                  <a:pt x="668098" y="1187670"/>
                </a:lnTo>
                <a:lnTo>
                  <a:pt x="1281610" y="1801182"/>
                </a:lnTo>
                <a:close/>
              </a:path>
            </a:pathLst>
          </a:custGeom>
          <a:solidFill>
            <a:srgbClr val="1C488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任意多边形 9"/>
          <p:cNvSpPr/>
          <p:nvPr/>
        </p:nvSpPr>
        <p:spPr>
          <a:xfrm rot="8100000">
            <a:off x="2670040" y="2707457"/>
            <a:ext cx="2818805" cy="2055195"/>
          </a:xfrm>
          <a:custGeom>
            <a:avLst/>
            <a:gdLst>
              <a:gd name="connsiteX0" fmla="*/ 1027597 w 2818805"/>
              <a:gd name="connsiteY0" fmla="*/ 2055195 h 2055195"/>
              <a:gd name="connsiteX1" fmla="*/ 254013 w 2818805"/>
              <a:gd name="connsiteY1" fmla="*/ 1281610 h 2055195"/>
              <a:gd name="connsiteX2" fmla="*/ 0 w 2818805"/>
              <a:gd name="connsiteY2" fmla="*/ 1027597 h 2055195"/>
              <a:gd name="connsiteX3" fmla="*/ 254013 w 2818805"/>
              <a:gd name="connsiteY3" fmla="*/ 773585 h 2055195"/>
              <a:gd name="connsiteX4" fmla="*/ 1027597 w 2818805"/>
              <a:gd name="connsiteY4" fmla="*/ 0 h 2055195"/>
              <a:gd name="connsiteX5" fmla="*/ 1281610 w 2818805"/>
              <a:gd name="connsiteY5" fmla="*/ 254013 h 2055195"/>
              <a:gd name="connsiteX6" fmla="*/ 668098 w 2818805"/>
              <a:gd name="connsiteY6" fmla="*/ 867524 h 2055195"/>
              <a:gd name="connsiteX7" fmla="*/ 2818805 w 2818805"/>
              <a:gd name="connsiteY7" fmla="*/ 867524 h 2055195"/>
              <a:gd name="connsiteX8" fmla="*/ 2818805 w 2818805"/>
              <a:gd name="connsiteY8" fmla="*/ 1187670 h 2055195"/>
              <a:gd name="connsiteX9" fmla="*/ 668098 w 2818805"/>
              <a:gd name="connsiteY9" fmla="*/ 1187670 h 2055195"/>
              <a:gd name="connsiteX10" fmla="*/ 1281610 w 2818805"/>
              <a:gd name="connsiteY10" fmla="*/ 1801182 h 2055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18805" h="2055195">
                <a:moveTo>
                  <a:pt x="1027597" y="2055195"/>
                </a:moveTo>
                <a:lnTo>
                  <a:pt x="254013" y="1281610"/>
                </a:lnTo>
                <a:lnTo>
                  <a:pt x="0" y="1027597"/>
                </a:lnTo>
                <a:lnTo>
                  <a:pt x="254013" y="773585"/>
                </a:lnTo>
                <a:lnTo>
                  <a:pt x="1027597" y="0"/>
                </a:lnTo>
                <a:lnTo>
                  <a:pt x="1281610" y="254013"/>
                </a:lnTo>
                <a:lnTo>
                  <a:pt x="668098" y="867524"/>
                </a:lnTo>
                <a:lnTo>
                  <a:pt x="2818805" y="867524"/>
                </a:lnTo>
                <a:lnTo>
                  <a:pt x="2818805" y="1187670"/>
                </a:lnTo>
                <a:lnTo>
                  <a:pt x="668098" y="1187670"/>
                </a:lnTo>
                <a:lnTo>
                  <a:pt x="1281610" y="180118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任意多边形 10"/>
          <p:cNvSpPr/>
          <p:nvPr/>
        </p:nvSpPr>
        <p:spPr>
          <a:xfrm rot="8100000">
            <a:off x="801242" y="3363056"/>
            <a:ext cx="2818805" cy="2055195"/>
          </a:xfrm>
          <a:custGeom>
            <a:avLst/>
            <a:gdLst>
              <a:gd name="connsiteX0" fmla="*/ 1027597 w 2818805"/>
              <a:gd name="connsiteY0" fmla="*/ 2055195 h 2055195"/>
              <a:gd name="connsiteX1" fmla="*/ 254013 w 2818805"/>
              <a:gd name="connsiteY1" fmla="*/ 1281610 h 2055195"/>
              <a:gd name="connsiteX2" fmla="*/ 0 w 2818805"/>
              <a:gd name="connsiteY2" fmla="*/ 1027597 h 2055195"/>
              <a:gd name="connsiteX3" fmla="*/ 254013 w 2818805"/>
              <a:gd name="connsiteY3" fmla="*/ 773585 h 2055195"/>
              <a:gd name="connsiteX4" fmla="*/ 1027597 w 2818805"/>
              <a:gd name="connsiteY4" fmla="*/ 0 h 2055195"/>
              <a:gd name="connsiteX5" fmla="*/ 1281610 w 2818805"/>
              <a:gd name="connsiteY5" fmla="*/ 254013 h 2055195"/>
              <a:gd name="connsiteX6" fmla="*/ 668098 w 2818805"/>
              <a:gd name="connsiteY6" fmla="*/ 867524 h 2055195"/>
              <a:gd name="connsiteX7" fmla="*/ 2818805 w 2818805"/>
              <a:gd name="connsiteY7" fmla="*/ 867524 h 2055195"/>
              <a:gd name="connsiteX8" fmla="*/ 2818805 w 2818805"/>
              <a:gd name="connsiteY8" fmla="*/ 1187670 h 2055195"/>
              <a:gd name="connsiteX9" fmla="*/ 668098 w 2818805"/>
              <a:gd name="connsiteY9" fmla="*/ 1187670 h 2055195"/>
              <a:gd name="connsiteX10" fmla="*/ 1281610 w 2818805"/>
              <a:gd name="connsiteY10" fmla="*/ 1801182 h 2055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18805" h="2055195">
                <a:moveTo>
                  <a:pt x="1027597" y="2055195"/>
                </a:moveTo>
                <a:lnTo>
                  <a:pt x="254013" y="1281610"/>
                </a:lnTo>
                <a:lnTo>
                  <a:pt x="0" y="1027597"/>
                </a:lnTo>
                <a:lnTo>
                  <a:pt x="254013" y="773585"/>
                </a:lnTo>
                <a:lnTo>
                  <a:pt x="1027597" y="0"/>
                </a:lnTo>
                <a:lnTo>
                  <a:pt x="1281610" y="254013"/>
                </a:lnTo>
                <a:lnTo>
                  <a:pt x="668098" y="867524"/>
                </a:lnTo>
                <a:lnTo>
                  <a:pt x="2818805" y="867524"/>
                </a:lnTo>
                <a:lnTo>
                  <a:pt x="2818805" y="1187670"/>
                </a:lnTo>
                <a:lnTo>
                  <a:pt x="668098" y="1187670"/>
                </a:lnTo>
                <a:lnTo>
                  <a:pt x="1281610" y="1801182"/>
                </a:lnTo>
                <a:close/>
              </a:path>
            </a:pathLst>
          </a:custGeom>
          <a:solidFill>
            <a:srgbClr val="1C488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709487" y="4767018"/>
            <a:ext cx="740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uturaBookC" pitchFamily="2" charset="-52"/>
              </a:rPr>
              <a:t>01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FuturaBookC" pitchFamily="2" charset="-5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580597" y="4115570"/>
            <a:ext cx="740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uturaBookC" pitchFamily="2" charset="-52"/>
              </a:rPr>
              <a:t>02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FuturaBookC" pitchFamily="2" charset="-5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478975" y="3427885"/>
            <a:ext cx="740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uturaBookC" pitchFamily="2" charset="-52"/>
              </a:rPr>
              <a:t>03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FuturaBookC" pitchFamily="2" charset="-5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364737" y="2788261"/>
            <a:ext cx="740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uturaBookC" pitchFamily="2" charset="-52"/>
              </a:rPr>
              <a:t>04</a:t>
            </a:r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FuturaBookC" pitchFamily="2" charset="-5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386184" y="3427885"/>
            <a:ext cx="2225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模块支撑数据生成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386184" y="3783325"/>
            <a:ext cx="2865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基于完整项目文件，生成模块支撑</a:t>
            </a: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CSV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数据文件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529138" y="4110446"/>
            <a:ext cx="2225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完整项目数据生成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529138" y="4465886"/>
            <a:ext cx="2865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调用</a:t>
            </a: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GitHubDataLoader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加载所有项目，创建包含</a:t>
            </a: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29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个维度的完整</a:t>
            </a: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DataFrame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612214" y="4751964"/>
            <a:ext cx="2225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数据清洗与计算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612214" y="5107404"/>
            <a:ext cx="2865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过滤无效数据，计算趋势指标、综合影响力分数，并标准化指标值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723493" y="5458274"/>
            <a:ext cx="2225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数据加载阶段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723493" y="5813714"/>
            <a:ext cx="2865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初始化</a:t>
            </a: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GitHubDataLoader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类，指定数据路径，遍历项目文件夹，加载每个项目的</a:t>
            </a: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JSON</a:t>
            </a:r>
            <a:r>
              <a:rPr lang="zh-CN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指标数据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760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984658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03122" y="449825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rgbClr val="02615A">
                <a:alpha val="3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887301" y="2420811"/>
            <a:ext cx="1592179" cy="1592179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b="1" dirty="0">
                <a:solidFill>
                  <a:schemeClr val="bg1"/>
                </a:solidFill>
                <a:latin typeface="FuturaBookC" pitchFamily="2" charset="-52"/>
              </a:rPr>
              <a:t>4</a:t>
            </a:r>
            <a:endParaRPr lang="zh-CN" altLang="en-US" sz="13800" b="1" dirty="0">
              <a:solidFill>
                <a:schemeClr val="bg1"/>
              </a:solidFill>
              <a:latin typeface="FuturaBookC" pitchFamily="2" charset="-5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70635" y="2659559"/>
            <a:ext cx="57603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核心功能模块</a:t>
            </a:r>
            <a:endParaRPr lang="zh-CN" altLang="en-US" sz="4400" dirty="0">
              <a:solidFill>
                <a:srgbClr val="1C4885"/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657204" y="3667747"/>
            <a:ext cx="1112406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1436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04648" y="409927"/>
            <a:ext cx="253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核心功能模块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04649" y="840662"/>
            <a:ext cx="22515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FuturaBookC" charset="-52"/>
                <a:ea typeface="微软雅黑" panose="020B0503020204020204" pitchFamily="34" charset="-122"/>
              </a:rPr>
              <a:t>CORE FUNCTIONS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FuturaBookC" charset="-5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/>
          <p:cNvSpPr/>
          <p:nvPr/>
        </p:nvSpPr>
        <p:spPr>
          <a:xfrm rot="2700000">
            <a:off x="4633834" y="1982174"/>
            <a:ext cx="1578077" cy="1578077"/>
          </a:xfrm>
          <a:prstGeom prst="ellipse">
            <a:avLst/>
          </a:prstGeom>
          <a:solidFill>
            <a:srgbClr val="1C4885"/>
          </a:solidFill>
          <a:ln w="508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 rot="2700000">
            <a:off x="4633834" y="3329212"/>
            <a:ext cx="1578077" cy="1578077"/>
          </a:xfrm>
          <a:prstGeom prst="ellipse">
            <a:avLst/>
          </a:prstGeom>
          <a:solidFill>
            <a:srgbClr val="1C4885"/>
          </a:solidFill>
          <a:ln w="508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任意多边形 9"/>
          <p:cNvSpPr/>
          <p:nvPr/>
        </p:nvSpPr>
        <p:spPr>
          <a:xfrm rot="2700000">
            <a:off x="5980871" y="3329211"/>
            <a:ext cx="1578078" cy="1578078"/>
          </a:xfrm>
          <a:custGeom>
            <a:avLst/>
            <a:gdLst>
              <a:gd name="connsiteX0" fmla="*/ 600331 w 1578078"/>
              <a:gd name="connsiteY0" fmla="*/ 25247 h 1578078"/>
              <a:gd name="connsiteX1" fmla="*/ 630020 w 1578078"/>
              <a:gd name="connsiteY1" fmla="*/ 16030 h 1578078"/>
              <a:gd name="connsiteX2" fmla="*/ 789039 w 1578078"/>
              <a:gd name="connsiteY2" fmla="*/ 0 h 1578078"/>
              <a:gd name="connsiteX3" fmla="*/ 1578078 w 1578078"/>
              <a:gd name="connsiteY3" fmla="*/ 789039 h 1578078"/>
              <a:gd name="connsiteX4" fmla="*/ 789039 w 1578078"/>
              <a:gd name="connsiteY4" fmla="*/ 1578078 h 1578078"/>
              <a:gd name="connsiteX5" fmla="*/ 0 w 1578078"/>
              <a:gd name="connsiteY5" fmla="*/ 789039 h 1578078"/>
              <a:gd name="connsiteX6" fmla="*/ 16031 w 1578078"/>
              <a:gd name="connsiteY6" fmla="*/ 630020 h 1578078"/>
              <a:gd name="connsiteX7" fmla="*/ 25247 w 1578078"/>
              <a:gd name="connsiteY7" fmla="*/ 600331 h 1578078"/>
              <a:gd name="connsiteX8" fmla="*/ 143668 w 1578078"/>
              <a:gd name="connsiteY8" fmla="*/ 563571 h 1578078"/>
              <a:gd name="connsiteX9" fmla="*/ 563570 w 1578078"/>
              <a:gd name="connsiteY9" fmla="*/ 143669 h 157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8078" h="1578078">
                <a:moveTo>
                  <a:pt x="600331" y="25247"/>
                </a:moveTo>
                <a:lnTo>
                  <a:pt x="630020" y="16030"/>
                </a:lnTo>
                <a:cubicBezTo>
                  <a:pt x="681385" y="5520"/>
                  <a:pt x="734567" y="0"/>
                  <a:pt x="789039" y="0"/>
                </a:cubicBezTo>
                <a:cubicBezTo>
                  <a:pt x="1224813" y="0"/>
                  <a:pt x="1578078" y="353265"/>
                  <a:pt x="1578078" y="789039"/>
                </a:cubicBezTo>
                <a:cubicBezTo>
                  <a:pt x="1578078" y="1224813"/>
                  <a:pt x="1224813" y="1578078"/>
                  <a:pt x="789039" y="1578078"/>
                </a:cubicBezTo>
                <a:cubicBezTo>
                  <a:pt x="353265" y="1578078"/>
                  <a:pt x="0" y="1224813"/>
                  <a:pt x="0" y="789039"/>
                </a:cubicBezTo>
                <a:cubicBezTo>
                  <a:pt x="0" y="734567"/>
                  <a:pt x="5520" y="681385"/>
                  <a:pt x="16031" y="630020"/>
                </a:cubicBezTo>
                <a:lnTo>
                  <a:pt x="25247" y="600331"/>
                </a:lnTo>
                <a:lnTo>
                  <a:pt x="143668" y="563571"/>
                </a:lnTo>
                <a:cubicBezTo>
                  <a:pt x="332466" y="483716"/>
                  <a:pt x="483715" y="332467"/>
                  <a:pt x="563570" y="143669"/>
                </a:cubicBezTo>
                <a:close/>
              </a:path>
            </a:pathLst>
          </a:custGeom>
          <a:solidFill>
            <a:srgbClr val="1C4885"/>
          </a:solidFill>
          <a:ln w="508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任意多边形 10"/>
          <p:cNvSpPr/>
          <p:nvPr/>
        </p:nvSpPr>
        <p:spPr>
          <a:xfrm rot="2700000">
            <a:off x="5980871" y="1982173"/>
            <a:ext cx="1578078" cy="1578078"/>
          </a:xfrm>
          <a:custGeom>
            <a:avLst/>
            <a:gdLst>
              <a:gd name="connsiteX0" fmla="*/ 231104 w 1578078"/>
              <a:gd name="connsiteY0" fmla="*/ 231104 h 1578078"/>
              <a:gd name="connsiteX1" fmla="*/ 789039 w 1578078"/>
              <a:gd name="connsiteY1" fmla="*/ 0 h 1578078"/>
              <a:gd name="connsiteX2" fmla="*/ 1578078 w 1578078"/>
              <a:gd name="connsiteY2" fmla="*/ 789039 h 1578078"/>
              <a:gd name="connsiteX3" fmla="*/ 789039 w 1578078"/>
              <a:gd name="connsiteY3" fmla="*/ 1578078 h 1578078"/>
              <a:gd name="connsiteX4" fmla="*/ 630020 w 1578078"/>
              <a:gd name="connsiteY4" fmla="*/ 1562047 h 1578078"/>
              <a:gd name="connsiteX5" fmla="*/ 600332 w 1578078"/>
              <a:gd name="connsiteY5" fmla="*/ 1552832 h 1578078"/>
              <a:gd name="connsiteX6" fmla="*/ 563572 w 1578078"/>
              <a:gd name="connsiteY6" fmla="*/ 1434409 h 1578078"/>
              <a:gd name="connsiteX7" fmla="*/ 143669 w 1578078"/>
              <a:gd name="connsiteY7" fmla="*/ 1014506 h 1578078"/>
              <a:gd name="connsiteX8" fmla="*/ 25246 w 1578078"/>
              <a:gd name="connsiteY8" fmla="*/ 977746 h 1578078"/>
              <a:gd name="connsiteX9" fmla="*/ 16031 w 1578078"/>
              <a:gd name="connsiteY9" fmla="*/ 948058 h 1578078"/>
              <a:gd name="connsiteX10" fmla="*/ 0 w 1578078"/>
              <a:gd name="connsiteY10" fmla="*/ 789039 h 1578078"/>
              <a:gd name="connsiteX11" fmla="*/ 231104 w 1578078"/>
              <a:gd name="connsiteY11" fmla="*/ 231104 h 157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78078" h="1578078">
                <a:moveTo>
                  <a:pt x="231104" y="231104"/>
                </a:moveTo>
                <a:cubicBezTo>
                  <a:pt x="373892" y="88316"/>
                  <a:pt x="571152" y="0"/>
                  <a:pt x="789039" y="0"/>
                </a:cubicBezTo>
                <a:cubicBezTo>
                  <a:pt x="1224813" y="0"/>
                  <a:pt x="1578078" y="353265"/>
                  <a:pt x="1578078" y="789039"/>
                </a:cubicBezTo>
                <a:cubicBezTo>
                  <a:pt x="1578078" y="1224813"/>
                  <a:pt x="1224813" y="1578078"/>
                  <a:pt x="789039" y="1578078"/>
                </a:cubicBezTo>
                <a:cubicBezTo>
                  <a:pt x="734567" y="1578078"/>
                  <a:pt x="681385" y="1572558"/>
                  <a:pt x="630020" y="1562047"/>
                </a:cubicBezTo>
                <a:lnTo>
                  <a:pt x="600332" y="1552832"/>
                </a:lnTo>
                <a:lnTo>
                  <a:pt x="563572" y="1434409"/>
                </a:lnTo>
                <a:cubicBezTo>
                  <a:pt x="483717" y="1245611"/>
                  <a:pt x="332467" y="1094361"/>
                  <a:pt x="143669" y="1014506"/>
                </a:cubicBezTo>
                <a:lnTo>
                  <a:pt x="25246" y="977746"/>
                </a:lnTo>
                <a:lnTo>
                  <a:pt x="16031" y="948058"/>
                </a:lnTo>
                <a:cubicBezTo>
                  <a:pt x="5520" y="896693"/>
                  <a:pt x="0" y="843511"/>
                  <a:pt x="0" y="789039"/>
                </a:cubicBezTo>
                <a:cubicBezTo>
                  <a:pt x="0" y="571152"/>
                  <a:pt x="88316" y="373892"/>
                  <a:pt x="231104" y="231104"/>
                </a:cubicBezTo>
                <a:close/>
              </a:path>
            </a:pathLst>
          </a:custGeom>
          <a:solidFill>
            <a:srgbClr val="1C4885"/>
          </a:solidFill>
          <a:ln w="508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695450" y="2010482"/>
            <a:ext cx="2391289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项目影响力分析模块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221619" y="2455940"/>
            <a:ext cx="2865120" cy="73866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围绕开源项目的综合价值评估提供服务，包括数据概览、排名筛选、项目详情、数据操作等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221619" y="3733213"/>
            <a:ext cx="286512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defRPr>
                <a:solidFill>
                  <a:schemeClr val="bg1"/>
                </a:solidFill>
                <a:effectLst>
                  <a:outerShdw blurRad="152400" dist="50800" dir="5400000" algn="ctr" rotWithShape="0">
                    <a:schemeClr val="tx1"/>
                  </a:outerShdw>
                </a:effectLst>
                <a:latin typeface="FZZhengHeiS-DB-GB" panose="02000000000000000000" pitchFamily="2" charset="0"/>
                <a:ea typeface="FZZhengHeiS-DB-GB" panose="02000000000000000000" pitchFamily="2" charset="0"/>
              </a:defRPr>
            </a:lvl1pPr>
          </a:lstStyle>
          <a:p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SQLBot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智能问数模块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221619" y="4132773"/>
            <a:ext cx="2865120" cy="73866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在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SQLBot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中构建数据源，用户输入自然语言问题，系统返回结构化结果，提升数据检索效率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885778" y="2010184"/>
            <a:ext cx="2865119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技术趋势分析与预测模块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885777" y="2426275"/>
            <a:ext cx="2865120" cy="73866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聚焦编程语言和技术领域的发展动态与未来走向，生成趋势跟踪、趋势预测图表，提供深度分析与建议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947510" y="3731567"/>
            <a:ext cx="2390289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defRPr>
                <a:solidFill>
                  <a:schemeClr val="bg1"/>
                </a:solidFill>
                <a:effectLst>
                  <a:outerShdw blurRad="152400" dist="50800" dir="5400000" algn="ctr" rotWithShape="0">
                    <a:schemeClr val="tx1"/>
                  </a:outerShdw>
                </a:effectLst>
                <a:latin typeface="FZZhengHeiS-DB-GB" panose="02000000000000000000" pitchFamily="2" charset="0"/>
                <a:ea typeface="FZZhengHeiS-DB-GB" panose="02000000000000000000" pitchFamily="2" charset="0"/>
              </a:defRPr>
            </a:lvl1pPr>
          </a:lstStyle>
          <a:p>
            <a:pPr algn="l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多维度数据检索模块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947511" y="4087007"/>
            <a:ext cx="2865120" cy="95410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为用户提供基础的数据浏览与检索功能，通过信息卡片可跳转至对应项目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/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编程语言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/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技术领域主页查看详细信息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7761" y="2516101"/>
            <a:ext cx="510223" cy="510223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799" y="2516101"/>
            <a:ext cx="510223" cy="510223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7761" y="3863139"/>
            <a:ext cx="510223" cy="510223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799" y="3863139"/>
            <a:ext cx="510223" cy="510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47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D9941-7F6D-D74F-15D4-56F8E9E33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4CDCDF9-4A79-61C0-D6D8-86CE2F912D16}"/>
              </a:ext>
            </a:extLst>
          </p:cNvPr>
          <p:cNvSpPr txBox="1"/>
          <p:nvPr/>
        </p:nvSpPr>
        <p:spPr>
          <a:xfrm>
            <a:off x="904648" y="409927"/>
            <a:ext cx="35149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项目影响力分析模块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6FAC0E-41B8-DBB3-52A0-D35FBBC81CB9}"/>
              </a:ext>
            </a:extLst>
          </p:cNvPr>
          <p:cNvSpPr txBox="1"/>
          <p:nvPr/>
        </p:nvSpPr>
        <p:spPr>
          <a:xfrm>
            <a:off x="904649" y="840662"/>
            <a:ext cx="302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FuturaBookC" charset="-52"/>
                <a:ea typeface="微软雅黑" panose="020B0503020204020204" pitchFamily="34" charset="-122"/>
              </a:rPr>
              <a:t>PROJECT INFLUENCE ANALYSIS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FuturaBookC" charset="-5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1A0829D-6A1F-178A-5B69-4138C6E4DD78}"/>
              </a:ext>
            </a:extLst>
          </p:cNvPr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22">
            <a:extLst>
              <a:ext uri="{FF2B5EF4-FFF2-40B4-BE49-F238E27FC236}">
                <a16:creationId xmlns:a16="http://schemas.microsoft.com/office/drawing/2014/main" id="{0D6C59AD-27B1-F9BF-8293-16251343DB4F}"/>
              </a:ext>
            </a:extLst>
          </p:cNvPr>
          <p:cNvSpPr/>
          <p:nvPr/>
        </p:nvSpPr>
        <p:spPr>
          <a:xfrm>
            <a:off x="764663" y="1520182"/>
            <a:ext cx="1159385" cy="354924"/>
          </a:xfrm>
          <a:prstGeom prst="roundRect">
            <a:avLst/>
          </a:prstGeom>
          <a:solidFill>
            <a:srgbClr val="1C488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>
                <a:latin typeface="FZZhengHeiS-DB-GB" panose="02000000000000000000" pitchFamily="2" charset="0"/>
                <a:ea typeface="FZZhengHeiS-DB-GB" panose="02000000000000000000" pitchFamily="2" charset="0"/>
              </a:rPr>
              <a:t>数据概览</a:t>
            </a:r>
            <a:endParaRPr lang="zh-CN" altLang="en-US" dirty="0"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F9D9EA-56F5-235D-AC6B-35002A85F8D8}"/>
              </a:ext>
            </a:extLst>
          </p:cNvPr>
          <p:cNvSpPr txBox="1"/>
          <p:nvPr/>
        </p:nvSpPr>
        <p:spPr>
          <a:xfrm>
            <a:off x="631835" y="2012171"/>
            <a:ext cx="43750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展示平台覆盖的项目总数、总 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Stars 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数、平均影响力分数等核心统计指标，结合编程语言分布饼图直观呈现项目的技术栈格局；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4" name="圆角矩形 22">
            <a:extLst>
              <a:ext uri="{FF2B5EF4-FFF2-40B4-BE49-F238E27FC236}">
                <a16:creationId xmlns:a16="http://schemas.microsoft.com/office/drawing/2014/main" id="{35C3024D-E0CA-1D69-3FEF-C542C17A0ABE}"/>
              </a:ext>
            </a:extLst>
          </p:cNvPr>
          <p:cNvSpPr/>
          <p:nvPr/>
        </p:nvSpPr>
        <p:spPr>
          <a:xfrm>
            <a:off x="764662" y="2869268"/>
            <a:ext cx="1159385" cy="354924"/>
          </a:xfrm>
          <a:prstGeom prst="roundRect">
            <a:avLst/>
          </a:prstGeom>
          <a:solidFill>
            <a:srgbClr val="1C488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>
                <a:latin typeface="FZZhengHeiS-DB-GB" panose="02000000000000000000" pitchFamily="2" charset="0"/>
                <a:ea typeface="FZZhengHeiS-DB-GB" panose="02000000000000000000" pitchFamily="2" charset="0"/>
              </a:rPr>
              <a:t>排名筛选</a:t>
            </a:r>
            <a:endParaRPr lang="zh-CN" altLang="en-US" dirty="0"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056377A-D47A-0CBE-34E5-D30AC015EC9A}"/>
              </a:ext>
            </a:extLst>
          </p:cNvPr>
          <p:cNvSpPr txBox="1"/>
          <p:nvPr/>
        </p:nvSpPr>
        <p:spPr>
          <a:xfrm>
            <a:off x="631835" y="3335554"/>
            <a:ext cx="4375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支持按综合影响力分数、编程语言等条件筛选，展示 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Top300 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项目的排名列表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6" name="圆角矩形 22">
            <a:extLst>
              <a:ext uri="{FF2B5EF4-FFF2-40B4-BE49-F238E27FC236}">
                <a16:creationId xmlns:a16="http://schemas.microsoft.com/office/drawing/2014/main" id="{A3E12CE6-E3B4-C0BA-1C1D-7C04D9DA96F2}"/>
              </a:ext>
            </a:extLst>
          </p:cNvPr>
          <p:cNvSpPr/>
          <p:nvPr/>
        </p:nvSpPr>
        <p:spPr>
          <a:xfrm>
            <a:off x="764662" y="4050209"/>
            <a:ext cx="1159385" cy="354924"/>
          </a:xfrm>
          <a:prstGeom prst="roundRect">
            <a:avLst/>
          </a:prstGeom>
          <a:solidFill>
            <a:srgbClr val="1C488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>
                <a:latin typeface="FZZhengHeiS-DB-GB" panose="02000000000000000000" pitchFamily="2" charset="0"/>
                <a:ea typeface="FZZhengHeiS-DB-GB" panose="02000000000000000000" pitchFamily="2" charset="0"/>
              </a:rPr>
              <a:t>项目详情</a:t>
            </a:r>
            <a:endParaRPr lang="zh-CN" altLang="en-US" dirty="0"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F2DABA0-E4C6-CF67-CC5C-599F7F4438F5}"/>
              </a:ext>
            </a:extLst>
          </p:cNvPr>
          <p:cNvSpPr txBox="1"/>
          <p:nvPr/>
        </p:nvSpPr>
        <p:spPr>
          <a:xfrm>
            <a:off x="631835" y="4516495"/>
            <a:ext cx="4375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列表中呈现每个项目的名称、编程语言、影响力分数、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Star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评分等核心指标，支持查看排名变化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8" name="圆角矩形 22">
            <a:extLst>
              <a:ext uri="{FF2B5EF4-FFF2-40B4-BE49-F238E27FC236}">
                <a16:creationId xmlns:a16="http://schemas.microsoft.com/office/drawing/2014/main" id="{95A6CC11-96DD-7704-2A5B-A7BEE28FB611}"/>
              </a:ext>
            </a:extLst>
          </p:cNvPr>
          <p:cNvSpPr/>
          <p:nvPr/>
        </p:nvSpPr>
        <p:spPr>
          <a:xfrm>
            <a:off x="764662" y="5294541"/>
            <a:ext cx="1159385" cy="354924"/>
          </a:xfrm>
          <a:prstGeom prst="roundRect">
            <a:avLst/>
          </a:prstGeom>
          <a:solidFill>
            <a:srgbClr val="1C488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>
                <a:latin typeface="FZZhengHeiS-DB-GB" panose="02000000000000000000" pitchFamily="2" charset="0"/>
                <a:ea typeface="FZZhengHeiS-DB-GB" panose="02000000000000000000" pitchFamily="2" charset="0"/>
              </a:rPr>
              <a:t>数据操作</a:t>
            </a:r>
            <a:endParaRPr lang="zh-CN" altLang="en-US" dirty="0"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6BEBD5E-F494-B074-CF6D-4CB1CB2702E4}"/>
              </a:ext>
            </a:extLst>
          </p:cNvPr>
          <p:cNvSpPr txBox="1"/>
          <p:nvPr/>
        </p:nvSpPr>
        <p:spPr>
          <a:xfrm>
            <a:off x="631835" y="5760827"/>
            <a:ext cx="4375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提供排名列表的 “展开全部”“导出数据” 功能，方便用户获取完整数据用于离线分析。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pic>
        <p:nvPicPr>
          <p:cNvPr id="31" name="图片 30" descr="图形用户界面, 应用程序, Teams&#10;&#10;AI 生成的内容可能不正确。">
            <a:extLst>
              <a:ext uri="{FF2B5EF4-FFF2-40B4-BE49-F238E27FC236}">
                <a16:creationId xmlns:a16="http://schemas.microsoft.com/office/drawing/2014/main" id="{2A843ACF-4F26-50C5-C2F1-66BC3873F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752" y="365472"/>
            <a:ext cx="5503748" cy="30685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3" name="图片 32" descr="图表, 瀑布图&#10;&#10;AI 生成的内容可能不正确。">
            <a:extLst>
              <a:ext uri="{FF2B5EF4-FFF2-40B4-BE49-F238E27FC236}">
                <a16:creationId xmlns:a16="http://schemas.microsoft.com/office/drawing/2014/main" id="{2EBDD6A3-699B-735F-74BF-5D6B89009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046730"/>
            <a:ext cx="5806002" cy="32181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68762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6EA45-21AD-712F-F703-2091F4B69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C8E0625-A18D-3E91-23DC-1C5A75A2DA9C}"/>
              </a:ext>
            </a:extLst>
          </p:cNvPr>
          <p:cNvSpPr txBox="1"/>
          <p:nvPr/>
        </p:nvSpPr>
        <p:spPr>
          <a:xfrm>
            <a:off x="904648" y="409927"/>
            <a:ext cx="3914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技术趋势分析预测模块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F5C2E9C-FDFE-C896-3EA2-D8691FD0A016}"/>
              </a:ext>
            </a:extLst>
          </p:cNvPr>
          <p:cNvSpPr txBox="1"/>
          <p:nvPr/>
        </p:nvSpPr>
        <p:spPr>
          <a:xfrm>
            <a:off x="904648" y="840662"/>
            <a:ext cx="3368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FuturaBookC" charset="-52"/>
                <a:ea typeface="微软雅黑" panose="020B0503020204020204" pitchFamily="34" charset="-122"/>
              </a:rPr>
              <a:t>TECHNOLOGY TREND ANALYSIS 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FuturaBookC" charset="-5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B3886D2-58D3-8AE6-ED11-1624B1FC1642}"/>
              </a:ext>
            </a:extLst>
          </p:cNvPr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22">
            <a:extLst>
              <a:ext uri="{FF2B5EF4-FFF2-40B4-BE49-F238E27FC236}">
                <a16:creationId xmlns:a16="http://schemas.microsoft.com/office/drawing/2014/main" id="{4DFD9B63-D59C-4D3C-83B3-CEDE491FF8C5}"/>
              </a:ext>
            </a:extLst>
          </p:cNvPr>
          <p:cNvSpPr/>
          <p:nvPr/>
        </p:nvSpPr>
        <p:spPr>
          <a:xfrm>
            <a:off x="764663" y="1520182"/>
            <a:ext cx="1159385" cy="354924"/>
          </a:xfrm>
          <a:prstGeom prst="roundRect">
            <a:avLst/>
          </a:prstGeom>
          <a:solidFill>
            <a:srgbClr val="1C488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>
                <a:latin typeface="FZZhengHeiS-DB-GB" panose="02000000000000000000" pitchFamily="2" charset="0"/>
                <a:ea typeface="FZZhengHeiS-DB-GB" panose="02000000000000000000" pitchFamily="2" charset="0"/>
              </a:rPr>
              <a:t>趋势跟踪</a:t>
            </a:r>
            <a:endParaRPr lang="zh-CN" altLang="en-US" dirty="0"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B15241E-C4D4-EBD2-C48C-FE527F9BD116}"/>
              </a:ext>
            </a:extLst>
          </p:cNvPr>
          <p:cNvSpPr txBox="1"/>
          <p:nvPr/>
        </p:nvSpPr>
        <p:spPr>
          <a:xfrm>
            <a:off x="631835" y="2012171"/>
            <a:ext cx="43750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按时间范围、变化趋势筛选，展现编程语言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/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技术领域的影响力变化；同时标注“上升最快”“热度最高”等技术标签，快速定位热门方向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4" name="圆角矩形 22">
            <a:extLst>
              <a:ext uri="{FF2B5EF4-FFF2-40B4-BE49-F238E27FC236}">
                <a16:creationId xmlns:a16="http://schemas.microsoft.com/office/drawing/2014/main" id="{32F50426-CF89-9C41-3FDC-B2E86E28A1EA}"/>
              </a:ext>
            </a:extLst>
          </p:cNvPr>
          <p:cNvSpPr/>
          <p:nvPr/>
        </p:nvSpPr>
        <p:spPr>
          <a:xfrm>
            <a:off x="764661" y="2994549"/>
            <a:ext cx="1159385" cy="354924"/>
          </a:xfrm>
          <a:prstGeom prst="roundRect">
            <a:avLst/>
          </a:prstGeom>
          <a:solidFill>
            <a:srgbClr val="1C488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>
                <a:latin typeface="FZZhengHeiS-DB-GB" panose="02000000000000000000" pitchFamily="2" charset="0"/>
                <a:ea typeface="FZZhengHeiS-DB-GB" panose="02000000000000000000" pitchFamily="2" charset="0"/>
              </a:rPr>
              <a:t>趋势预测</a:t>
            </a:r>
            <a:endParaRPr lang="zh-CN" altLang="en-US" dirty="0"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8EFB3EB-1542-50E6-4BD3-89FBD4939A27}"/>
              </a:ext>
            </a:extLst>
          </p:cNvPr>
          <p:cNvSpPr txBox="1"/>
          <p:nvPr/>
        </p:nvSpPr>
        <p:spPr>
          <a:xfrm>
            <a:off x="631834" y="3460835"/>
            <a:ext cx="43750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基于历史数据生成未来 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3 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个月的趋势预测，并按不同维度输出预测结论，覆盖技术领域、编程语言的发展前景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8" name="圆角矩形 22">
            <a:extLst>
              <a:ext uri="{FF2B5EF4-FFF2-40B4-BE49-F238E27FC236}">
                <a16:creationId xmlns:a16="http://schemas.microsoft.com/office/drawing/2014/main" id="{159914F7-A48C-309D-0582-536036DC6003}"/>
              </a:ext>
            </a:extLst>
          </p:cNvPr>
          <p:cNvSpPr/>
          <p:nvPr/>
        </p:nvSpPr>
        <p:spPr>
          <a:xfrm>
            <a:off x="764662" y="4506917"/>
            <a:ext cx="1915038" cy="354924"/>
          </a:xfrm>
          <a:prstGeom prst="roundRect">
            <a:avLst/>
          </a:prstGeom>
          <a:solidFill>
            <a:srgbClr val="1C488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>
                <a:latin typeface="FZZhengHeiS-DB-GB" panose="02000000000000000000" pitchFamily="2" charset="0"/>
                <a:ea typeface="FZZhengHeiS-DB-GB" panose="02000000000000000000" pitchFamily="2" charset="0"/>
              </a:rPr>
              <a:t>深度分析与建议</a:t>
            </a:r>
            <a:endParaRPr lang="zh-CN" altLang="en-US" dirty="0"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798A558-E05F-3EEE-224C-858D5F55CEAA}"/>
              </a:ext>
            </a:extLst>
          </p:cNvPr>
          <p:cNvSpPr txBox="1"/>
          <p:nvPr/>
        </p:nvSpPr>
        <p:spPr>
          <a:xfrm>
            <a:off x="674429" y="5063231"/>
            <a:ext cx="4375039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技术领域深度分析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编程语言生态评估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行业影响与机会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战略建议与行动计划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pic>
        <p:nvPicPr>
          <p:cNvPr id="8" name="图片 7" descr="图形用户界面, 图表&#10;&#10;AI 生成的内容可能不正确。">
            <a:extLst>
              <a:ext uri="{FF2B5EF4-FFF2-40B4-BE49-F238E27FC236}">
                <a16:creationId xmlns:a16="http://schemas.microsoft.com/office/drawing/2014/main" id="{80DA2EAD-1862-F34A-B88D-78F637725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324" y="562482"/>
            <a:ext cx="5955923" cy="33046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图片 9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D4562955-1DF5-07C0-11E7-0E7F72206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6378" y="2994549"/>
            <a:ext cx="6126759" cy="33924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04892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BE3B5-2B27-883E-DE36-1A188C50D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586D01E-AC83-D91C-0D62-29A03CDDC060}"/>
              </a:ext>
            </a:extLst>
          </p:cNvPr>
          <p:cNvSpPr txBox="1"/>
          <p:nvPr/>
        </p:nvSpPr>
        <p:spPr>
          <a:xfrm>
            <a:off x="904648" y="409927"/>
            <a:ext cx="3914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SQLBot</a:t>
            </a:r>
            <a:r>
              <a:rPr lang="zh-CN" alt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智能问数模块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EF8B480-09AF-1F42-E367-6B92595298F7}"/>
              </a:ext>
            </a:extLst>
          </p:cNvPr>
          <p:cNvSpPr txBox="1"/>
          <p:nvPr/>
        </p:nvSpPr>
        <p:spPr>
          <a:xfrm>
            <a:off x="904649" y="840662"/>
            <a:ext cx="28418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FuturaBookC" charset="-52"/>
                <a:ea typeface="微软雅黑" panose="020B0503020204020204" pitchFamily="34" charset="-122"/>
              </a:rPr>
              <a:t>SQLBOT SMART QUERY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FuturaBookC" charset="-5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F8277F4-EAAF-F315-1456-A9158AB41436}"/>
              </a:ext>
            </a:extLst>
          </p:cNvPr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22">
            <a:extLst>
              <a:ext uri="{FF2B5EF4-FFF2-40B4-BE49-F238E27FC236}">
                <a16:creationId xmlns:a16="http://schemas.microsoft.com/office/drawing/2014/main" id="{DCCF3093-BC72-CE8A-3FCA-64D2A3392094}"/>
              </a:ext>
            </a:extLst>
          </p:cNvPr>
          <p:cNvSpPr/>
          <p:nvPr/>
        </p:nvSpPr>
        <p:spPr>
          <a:xfrm>
            <a:off x="807258" y="1697982"/>
            <a:ext cx="1432436" cy="354924"/>
          </a:xfrm>
          <a:prstGeom prst="roundRect">
            <a:avLst/>
          </a:prstGeom>
          <a:solidFill>
            <a:srgbClr val="1C488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>
                <a:latin typeface="FZZhengHeiS-DB-GB" panose="02000000000000000000" pitchFamily="2" charset="0"/>
                <a:ea typeface="FZZhengHeiS-DB-GB" panose="02000000000000000000" pitchFamily="2" charset="0"/>
              </a:rPr>
              <a:t>数据源配置</a:t>
            </a:r>
            <a:endParaRPr lang="zh-CN" altLang="en-US" dirty="0"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76DB11-0833-1ACD-DC8E-697F8BF11D54}"/>
              </a:ext>
            </a:extLst>
          </p:cNvPr>
          <p:cNvSpPr txBox="1"/>
          <p:nvPr/>
        </p:nvSpPr>
        <p:spPr>
          <a:xfrm>
            <a:off x="674429" y="2189971"/>
            <a:ext cx="4375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将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projects_complete.csv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等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6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个数据文件上传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SQLBot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数据源并完善字段备注，搭建数据网络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4" name="圆角矩形 22">
            <a:extLst>
              <a:ext uri="{FF2B5EF4-FFF2-40B4-BE49-F238E27FC236}">
                <a16:creationId xmlns:a16="http://schemas.microsoft.com/office/drawing/2014/main" id="{5055DB1E-1186-CDCA-F17C-25034960CBE4}"/>
              </a:ext>
            </a:extLst>
          </p:cNvPr>
          <p:cNvSpPr/>
          <p:nvPr/>
        </p:nvSpPr>
        <p:spPr>
          <a:xfrm>
            <a:off x="807255" y="3585099"/>
            <a:ext cx="1159385" cy="354924"/>
          </a:xfrm>
          <a:prstGeom prst="roundRect">
            <a:avLst/>
          </a:prstGeom>
          <a:solidFill>
            <a:srgbClr val="1C488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>
                <a:latin typeface="FZZhengHeiS-DB-GB" panose="02000000000000000000" pitchFamily="2" charset="0"/>
                <a:ea typeface="FZZhengHeiS-DB-GB" panose="02000000000000000000" pitchFamily="2" charset="0"/>
              </a:rPr>
              <a:t>智能问数</a:t>
            </a:r>
            <a:endParaRPr lang="zh-CN" altLang="en-US" dirty="0"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54872E1-769E-7064-D2DE-02061E63D974}"/>
              </a:ext>
            </a:extLst>
          </p:cNvPr>
          <p:cNvSpPr txBox="1"/>
          <p:nvPr/>
        </p:nvSpPr>
        <p:spPr>
          <a:xfrm>
            <a:off x="674428" y="4051385"/>
            <a:ext cx="437503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在网站各页面中嵌入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SQLBot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智能问数服务，支持以下功能：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自然语言查询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预定义模板查询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结果格式化展示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查询历史记录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pic>
        <p:nvPicPr>
          <p:cNvPr id="2" name="图片 1" descr="电脑屏幕截图&#10;&#10;AI 生成的内容可能不正确。">
            <a:extLst>
              <a:ext uri="{FF2B5EF4-FFF2-40B4-BE49-F238E27FC236}">
                <a16:creationId xmlns:a16="http://schemas.microsoft.com/office/drawing/2014/main" id="{C22192E4-24F2-3603-B67D-B00C3AD5C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899" y="690073"/>
            <a:ext cx="5610451" cy="30884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图片 12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763BDF49-6095-F903-554E-A54BC3AD1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878" y="3237682"/>
            <a:ext cx="5650822" cy="31440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6395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B468E-066A-0E9F-B0AF-ADDF2A541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EDDA29E-EA4A-7F0F-96F0-62DA78674EC2}"/>
              </a:ext>
            </a:extLst>
          </p:cNvPr>
          <p:cNvSpPr txBox="1"/>
          <p:nvPr/>
        </p:nvSpPr>
        <p:spPr>
          <a:xfrm>
            <a:off x="904648" y="409927"/>
            <a:ext cx="3914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多维度数据检索模块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14EA95-D189-B7F3-C669-B4367BBFDC1E}"/>
              </a:ext>
            </a:extLst>
          </p:cNvPr>
          <p:cNvSpPr txBox="1"/>
          <p:nvPr/>
        </p:nvSpPr>
        <p:spPr>
          <a:xfrm>
            <a:off x="904648" y="853899"/>
            <a:ext cx="23465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FuturaBookC" charset="-52"/>
                <a:ea typeface="微软雅黑" panose="020B0503020204020204" pitchFamily="34" charset="-122"/>
              </a:rPr>
              <a:t>DATA RETRIEVAL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FuturaBookC" charset="-5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D7A9757-DBDC-AFB4-B0A3-83B2E29415B1}"/>
              </a:ext>
            </a:extLst>
          </p:cNvPr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 22">
            <a:extLst>
              <a:ext uri="{FF2B5EF4-FFF2-40B4-BE49-F238E27FC236}">
                <a16:creationId xmlns:a16="http://schemas.microsoft.com/office/drawing/2014/main" id="{ABC5BE25-68AF-B440-E6D9-D804EB25C78D}"/>
              </a:ext>
            </a:extLst>
          </p:cNvPr>
          <p:cNvSpPr/>
          <p:nvPr/>
        </p:nvSpPr>
        <p:spPr>
          <a:xfrm>
            <a:off x="807258" y="1697982"/>
            <a:ext cx="1159382" cy="354924"/>
          </a:xfrm>
          <a:prstGeom prst="roundRect">
            <a:avLst/>
          </a:prstGeom>
          <a:solidFill>
            <a:srgbClr val="1C488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>
                <a:latin typeface="FZZhengHeiS-DB-GB" panose="02000000000000000000" pitchFamily="2" charset="0"/>
                <a:ea typeface="FZZhengHeiS-DB-GB" panose="02000000000000000000" pitchFamily="2" charset="0"/>
              </a:rPr>
              <a:t>数据检索</a:t>
            </a:r>
            <a:endParaRPr lang="zh-CN" altLang="en-US" dirty="0"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4F6023F-FACD-67B3-05D0-ED732BFE2E8D}"/>
              </a:ext>
            </a:extLst>
          </p:cNvPr>
          <p:cNvSpPr txBox="1"/>
          <p:nvPr/>
        </p:nvSpPr>
        <p:spPr>
          <a:xfrm>
            <a:off x="674429" y="2189971"/>
            <a:ext cx="4375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分为项目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/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编程语言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/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技术领域多个维度检索数据，支持名称查询、多维度筛选、排序显示等功能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4" name="圆角矩形 22">
            <a:extLst>
              <a:ext uri="{FF2B5EF4-FFF2-40B4-BE49-F238E27FC236}">
                <a16:creationId xmlns:a16="http://schemas.microsoft.com/office/drawing/2014/main" id="{1A1855E0-EBCC-2C69-2709-B29294F5330D}"/>
              </a:ext>
            </a:extLst>
          </p:cNvPr>
          <p:cNvSpPr/>
          <p:nvPr/>
        </p:nvSpPr>
        <p:spPr>
          <a:xfrm>
            <a:off x="807255" y="3585099"/>
            <a:ext cx="1159385" cy="354924"/>
          </a:xfrm>
          <a:prstGeom prst="roundRect">
            <a:avLst/>
          </a:prstGeom>
          <a:solidFill>
            <a:srgbClr val="1C488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>
                <a:latin typeface="FZZhengHeiS-DB-GB" panose="02000000000000000000" pitchFamily="2" charset="0"/>
                <a:ea typeface="FZZhengHeiS-DB-GB" panose="02000000000000000000" pitchFamily="2" charset="0"/>
              </a:rPr>
              <a:t>主页详情</a:t>
            </a:r>
            <a:endParaRPr lang="zh-CN" altLang="en-US" dirty="0"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0F5CCC4-EE0A-A5BB-F1D5-FEC01A254C45}"/>
              </a:ext>
            </a:extLst>
          </p:cNvPr>
          <p:cNvSpPr txBox="1"/>
          <p:nvPr/>
        </p:nvSpPr>
        <p:spPr>
          <a:xfrm>
            <a:off x="674428" y="4051385"/>
            <a:ext cx="437503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为用户提供指定目标的详细数据，对于编程语言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/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技术领域，支持一键跳转至该领域下的热门项目获取更多信息：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基础信息仪表盘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核心指标雷达图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多层次可视化图表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完整数据信息</a:t>
            </a:r>
            <a:endParaRPr lang="en-US" altLang="zh-CN" sz="140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pic>
        <p:nvPicPr>
          <p:cNvPr id="8" name="图片 7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941A0B73-C405-0950-101F-84441D8B0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744" y="660403"/>
            <a:ext cx="5810535" cy="31918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图片 8" descr="图形用户界面, 应用程序, Teams&#10;&#10;AI 生成的内容可能不正确。">
            <a:extLst>
              <a:ext uri="{FF2B5EF4-FFF2-40B4-BE49-F238E27FC236}">
                <a16:creationId xmlns:a16="http://schemas.microsoft.com/office/drawing/2014/main" id="{217DCB09-35FB-BC66-0B41-AC7FE5763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599" y="3146650"/>
            <a:ext cx="5810535" cy="32145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36545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04648" y="409927"/>
            <a:ext cx="36318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关键数据成果与洞察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04649" y="840662"/>
            <a:ext cx="22515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FuturaBookC" charset="-52"/>
                <a:ea typeface="微软雅黑" panose="020B0503020204020204" pitchFamily="34" charset="-122"/>
              </a:rPr>
              <a:t>KEY DATA INSIGHT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FuturaBookC" charset="-5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 7"/>
          <p:cNvSpPr/>
          <p:nvPr/>
        </p:nvSpPr>
        <p:spPr>
          <a:xfrm>
            <a:off x="1028645" y="1311257"/>
            <a:ext cx="2520733" cy="2445011"/>
          </a:xfrm>
          <a:custGeom>
            <a:avLst/>
            <a:gdLst>
              <a:gd name="connsiteX0" fmla="*/ 1270000 w 2520733"/>
              <a:gd name="connsiteY0" fmla="*/ 0 h 2445011"/>
              <a:gd name="connsiteX1" fmla="*/ 2514198 w 2520733"/>
              <a:gd name="connsiteY1" fmla="*/ 1014051 h 2445011"/>
              <a:gd name="connsiteX2" fmla="*/ 2520733 w 2520733"/>
              <a:gd name="connsiteY2" fmla="*/ 1056868 h 2445011"/>
              <a:gd name="connsiteX3" fmla="*/ 2483803 w 2520733"/>
              <a:gd name="connsiteY3" fmla="*/ 1090431 h 2445011"/>
              <a:gd name="connsiteX4" fmla="*/ 2111829 w 2520733"/>
              <a:gd name="connsiteY4" fmla="*/ 1988457 h 2445011"/>
              <a:gd name="connsiteX5" fmla="*/ 2118386 w 2520733"/>
              <a:gd name="connsiteY5" fmla="*/ 2118307 h 2445011"/>
              <a:gd name="connsiteX6" fmla="*/ 2131096 w 2520733"/>
              <a:gd name="connsiteY6" fmla="*/ 2201890 h 2445011"/>
              <a:gd name="connsiteX7" fmla="*/ 2097177 w 2520733"/>
              <a:gd name="connsiteY7" fmla="*/ 2232418 h 2445011"/>
              <a:gd name="connsiteX8" fmla="*/ 1874293 w 2520733"/>
              <a:gd name="connsiteY8" fmla="*/ 2163231 h 2445011"/>
              <a:gd name="connsiteX9" fmla="*/ 1618343 w 2520733"/>
              <a:gd name="connsiteY9" fmla="*/ 2137429 h 2445011"/>
              <a:gd name="connsiteX10" fmla="*/ 810505 w 2520733"/>
              <a:gd name="connsiteY10" fmla="*/ 2427435 h 2445011"/>
              <a:gd name="connsiteX11" fmla="*/ 791167 w 2520733"/>
              <a:gd name="connsiteY11" fmla="*/ 2445011 h 2445011"/>
              <a:gd name="connsiteX12" fmla="*/ 775659 w 2520733"/>
              <a:gd name="connsiteY12" fmla="*/ 2440197 h 2445011"/>
              <a:gd name="connsiteX13" fmla="*/ 0 w 2520733"/>
              <a:gd name="connsiteY13" fmla="*/ 1270000 h 2445011"/>
              <a:gd name="connsiteX14" fmla="*/ 1270000 w 2520733"/>
              <a:gd name="connsiteY14" fmla="*/ 0 h 2445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20733" h="2445011">
                <a:moveTo>
                  <a:pt x="1270000" y="0"/>
                </a:moveTo>
                <a:cubicBezTo>
                  <a:pt x="1883727" y="0"/>
                  <a:pt x="2395776" y="435333"/>
                  <a:pt x="2514198" y="1014051"/>
                </a:cubicBezTo>
                <a:lnTo>
                  <a:pt x="2520733" y="1056868"/>
                </a:lnTo>
                <a:lnTo>
                  <a:pt x="2483803" y="1090431"/>
                </a:lnTo>
                <a:cubicBezTo>
                  <a:pt x="2253979" y="1320256"/>
                  <a:pt x="2111829" y="1637756"/>
                  <a:pt x="2111829" y="1988457"/>
                </a:cubicBezTo>
                <a:cubicBezTo>
                  <a:pt x="2111829" y="2032295"/>
                  <a:pt x="2114050" y="2075614"/>
                  <a:pt x="2118386" y="2118307"/>
                </a:cubicBezTo>
                <a:lnTo>
                  <a:pt x="2131096" y="2201890"/>
                </a:lnTo>
                <a:lnTo>
                  <a:pt x="2097177" y="2232418"/>
                </a:lnTo>
                <a:lnTo>
                  <a:pt x="1874293" y="2163231"/>
                </a:lnTo>
                <a:cubicBezTo>
                  <a:pt x="1791619" y="2146314"/>
                  <a:pt x="1706018" y="2137429"/>
                  <a:pt x="1618343" y="2137429"/>
                </a:cubicBezTo>
                <a:cubicBezTo>
                  <a:pt x="1311480" y="2137429"/>
                  <a:pt x="1030036" y="2246262"/>
                  <a:pt x="810505" y="2427435"/>
                </a:cubicBezTo>
                <a:lnTo>
                  <a:pt x="791167" y="2445011"/>
                </a:lnTo>
                <a:lnTo>
                  <a:pt x="775659" y="2440197"/>
                </a:lnTo>
                <a:cubicBezTo>
                  <a:pt x="319837" y="2247401"/>
                  <a:pt x="0" y="1796052"/>
                  <a:pt x="0" y="1270000"/>
                </a:cubicBezTo>
                <a:cubicBezTo>
                  <a:pt x="0" y="568598"/>
                  <a:pt x="568598" y="0"/>
                  <a:pt x="1270000" y="0"/>
                </a:cubicBezTo>
                <a:close/>
              </a:path>
            </a:pathLst>
          </a:custGeom>
          <a:solidFill>
            <a:schemeClr val="bg1">
              <a:lumMod val="95000"/>
              <a:alpha val="8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00"/>
          </a:p>
        </p:txBody>
      </p:sp>
      <p:sp>
        <p:nvSpPr>
          <p:cNvPr id="9" name="任意多边形 8"/>
          <p:cNvSpPr/>
          <p:nvPr/>
        </p:nvSpPr>
        <p:spPr>
          <a:xfrm>
            <a:off x="1350465" y="3487574"/>
            <a:ext cx="2540000" cy="2540000"/>
          </a:xfrm>
          <a:custGeom>
            <a:avLst/>
            <a:gdLst>
              <a:gd name="connsiteX0" fmla="*/ 1270000 w 2540000"/>
              <a:gd name="connsiteY0" fmla="*/ 0 h 2540000"/>
              <a:gd name="connsiteX1" fmla="*/ 1764342 w 2540000"/>
              <a:gd name="connsiteY1" fmla="*/ 99803 h 2540000"/>
              <a:gd name="connsiteX2" fmla="*/ 1790709 w 2540000"/>
              <a:gd name="connsiteY2" fmla="*/ 112505 h 2540000"/>
              <a:gd name="connsiteX3" fmla="*/ 1820583 w 2540000"/>
              <a:gd name="connsiteY3" fmla="*/ 228687 h 2540000"/>
              <a:gd name="connsiteX4" fmla="*/ 2428128 w 2540000"/>
              <a:gd name="connsiteY4" fmla="*/ 967746 h 2540000"/>
              <a:gd name="connsiteX5" fmla="*/ 2512777 w 2540000"/>
              <a:gd name="connsiteY5" fmla="*/ 1008523 h 2540000"/>
              <a:gd name="connsiteX6" fmla="*/ 2514198 w 2540000"/>
              <a:gd name="connsiteY6" fmla="*/ 1014051 h 2540000"/>
              <a:gd name="connsiteX7" fmla="*/ 2540000 w 2540000"/>
              <a:gd name="connsiteY7" fmla="*/ 1270000 h 2540000"/>
              <a:gd name="connsiteX8" fmla="*/ 1270000 w 2540000"/>
              <a:gd name="connsiteY8" fmla="*/ 2540000 h 2540000"/>
              <a:gd name="connsiteX9" fmla="*/ 0 w 2540000"/>
              <a:gd name="connsiteY9" fmla="*/ 1270000 h 2540000"/>
              <a:gd name="connsiteX10" fmla="*/ 1270000 w 2540000"/>
              <a:gd name="connsiteY10" fmla="*/ 0 h 2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40000" h="2540000">
                <a:moveTo>
                  <a:pt x="1270000" y="0"/>
                </a:moveTo>
                <a:cubicBezTo>
                  <a:pt x="1445351" y="0"/>
                  <a:pt x="1612401" y="35538"/>
                  <a:pt x="1764342" y="99803"/>
                </a:cubicBezTo>
                <a:lnTo>
                  <a:pt x="1790709" y="112505"/>
                </a:lnTo>
                <a:lnTo>
                  <a:pt x="1820583" y="228687"/>
                </a:lnTo>
                <a:cubicBezTo>
                  <a:pt x="1919534" y="546827"/>
                  <a:pt x="2140208" y="811338"/>
                  <a:pt x="2428128" y="967746"/>
                </a:cubicBezTo>
                <a:lnTo>
                  <a:pt x="2512777" y="1008523"/>
                </a:lnTo>
                <a:lnTo>
                  <a:pt x="2514198" y="1014051"/>
                </a:lnTo>
                <a:cubicBezTo>
                  <a:pt x="2531116" y="1096725"/>
                  <a:pt x="2540000" y="1182325"/>
                  <a:pt x="2540000" y="1270000"/>
                </a:cubicBezTo>
                <a:cubicBezTo>
                  <a:pt x="2540000" y="1971402"/>
                  <a:pt x="1971402" y="2540000"/>
                  <a:pt x="1270000" y="2540000"/>
                </a:cubicBezTo>
                <a:cubicBezTo>
                  <a:pt x="568598" y="2540000"/>
                  <a:pt x="0" y="1971402"/>
                  <a:pt x="0" y="1270000"/>
                </a:cubicBezTo>
                <a:cubicBezTo>
                  <a:pt x="0" y="568598"/>
                  <a:pt x="568598" y="0"/>
                  <a:pt x="1270000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  <a:alpha val="8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00"/>
          </a:p>
        </p:txBody>
      </p:sp>
      <p:sp>
        <p:nvSpPr>
          <p:cNvPr id="10" name="椭圆 9"/>
          <p:cNvSpPr/>
          <p:nvPr/>
        </p:nvSpPr>
        <p:spPr>
          <a:xfrm>
            <a:off x="3121207" y="2068602"/>
            <a:ext cx="2540000" cy="2540000"/>
          </a:xfrm>
          <a:prstGeom prst="ellipse">
            <a:avLst/>
          </a:prstGeom>
          <a:solidFill>
            <a:srgbClr val="1C4885">
              <a:alpha val="90000"/>
            </a:srgb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文本框 10"/>
          <p:cNvSpPr txBox="1"/>
          <p:nvPr/>
        </p:nvSpPr>
        <p:spPr>
          <a:xfrm>
            <a:off x="1171442" y="2014543"/>
            <a:ext cx="2225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bg1"/>
                </a:solidFill>
                <a:effectLst>
                  <a:outerShdw blurRad="152400" dist="50800" dir="5400000" algn="ctr" rotWithShape="0">
                    <a:schemeClr val="tx1"/>
                  </a:outerShdw>
                </a:effectLst>
                <a:latin typeface="FZZhengHeiS-DB-GB" panose="02000000000000000000" pitchFamily="2" charset="0"/>
                <a:ea typeface="FZZhengHeiS-DB-GB" panose="02000000000000000000" pitchFamily="2" charset="0"/>
              </a:defRPr>
            </a:lvl1pPr>
          </a:lstStyle>
          <a:p>
            <a:pPr algn="ctr"/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主导技术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390676" y="2472363"/>
            <a:ext cx="1786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Python/JavaScript 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稳定增长，月均增长率 </a:t>
            </a: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5% 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左右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2151379" y="2366817"/>
            <a:ext cx="265167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533051" y="4192331"/>
            <a:ext cx="2225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bg1"/>
                </a:solidFill>
                <a:effectLst>
                  <a:outerShdw blurRad="152400" dist="50800" dir="5400000" algn="ctr" rotWithShape="0">
                    <a:schemeClr val="tx1"/>
                  </a:outerShdw>
                </a:effectLst>
                <a:latin typeface="FZZhengHeiS-DB-GB" panose="02000000000000000000" pitchFamily="2" charset="0"/>
                <a:ea typeface="FZZhengHeiS-DB-GB" panose="02000000000000000000" pitchFamily="2" charset="0"/>
              </a:defRPr>
            </a:lvl1pPr>
          </a:lstStyle>
          <a:p>
            <a:pPr algn="ctr"/>
            <a:r>
              <a:rPr lang="zh-CN" altLang="en-US" sz="1600">
                <a:effectLst/>
              </a:rPr>
              <a:t>成熟度分布</a:t>
            </a:r>
            <a:endParaRPr lang="zh-CN" altLang="en-US" sz="1600" dirty="0">
              <a:effectLst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752285" y="4650151"/>
            <a:ext cx="1786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solidFill>
                  <a:schemeClr val="bg1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成熟期技术占比 </a:t>
            </a:r>
            <a:r>
              <a:rPr lang="en-US" altLang="zh-CN" sz="1200">
                <a:solidFill>
                  <a:schemeClr val="bg1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62%</a:t>
            </a:r>
            <a:r>
              <a:rPr lang="zh-CN" altLang="en-US" sz="1200">
                <a:solidFill>
                  <a:schemeClr val="bg1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，成长期 </a:t>
            </a:r>
            <a:r>
              <a:rPr lang="en-US" altLang="zh-CN" sz="1200">
                <a:solidFill>
                  <a:schemeClr val="bg1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31%</a:t>
            </a:r>
            <a:r>
              <a:rPr lang="zh-CN" altLang="en-US" sz="1200">
                <a:solidFill>
                  <a:schemeClr val="bg1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，新兴期 </a:t>
            </a:r>
            <a:r>
              <a:rPr lang="en-US" altLang="zh-CN" sz="1200">
                <a:solidFill>
                  <a:schemeClr val="bg1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7%</a:t>
            </a:r>
            <a:endParaRPr lang="zh-CN" altLang="en-US" sz="1200" dirty="0">
              <a:solidFill>
                <a:schemeClr val="bg1"/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2512988" y="4544605"/>
            <a:ext cx="265167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3291357" y="2787930"/>
            <a:ext cx="2225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bg1"/>
                </a:solidFill>
                <a:effectLst>
                  <a:outerShdw blurRad="152400" dist="50800" dir="5400000" algn="ctr" rotWithShape="0">
                    <a:schemeClr val="tx1"/>
                  </a:outerShdw>
                </a:effectLst>
                <a:latin typeface="FZZhengHeiS-DB-GB" panose="02000000000000000000" pitchFamily="2" charset="0"/>
                <a:ea typeface="FZZhengHeiS-DB-GB" panose="02000000000000000000" pitchFamily="2" charset="0"/>
              </a:defRPr>
            </a:lvl1pPr>
          </a:lstStyle>
          <a:p>
            <a:pPr algn="ctr"/>
            <a:r>
              <a:rPr lang="zh-CN" altLang="en-US" sz="1600">
                <a:effectLst/>
              </a:rPr>
              <a:t>潜力技术</a:t>
            </a:r>
            <a:endParaRPr lang="zh-CN" altLang="en-US" sz="1600" dirty="0">
              <a:effectLst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510591" y="3245750"/>
            <a:ext cx="1786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solidFill>
                  <a:schemeClr val="bg1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Go/Rust </a:t>
            </a:r>
            <a:r>
              <a:rPr lang="zh-CN" altLang="en-US" sz="1200">
                <a:solidFill>
                  <a:schemeClr val="bg1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增长率超 </a:t>
            </a:r>
            <a:r>
              <a:rPr lang="en-US" altLang="zh-CN" sz="1200">
                <a:solidFill>
                  <a:schemeClr val="bg1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10%</a:t>
            </a:r>
            <a:r>
              <a:rPr lang="zh-CN" altLang="en-US" sz="1200">
                <a:solidFill>
                  <a:schemeClr val="bg1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，发展势头强劲</a:t>
            </a:r>
            <a:endParaRPr lang="zh-CN" altLang="en-US" sz="1200" dirty="0">
              <a:solidFill>
                <a:schemeClr val="bg1"/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4271294" y="3140204"/>
            <a:ext cx="265167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6466496" y="2082148"/>
            <a:ext cx="43750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Top 3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项目为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TensorFlow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、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React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、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Vue.js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，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Top 50 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项目中 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Python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、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JavaScript 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相关项目占比超 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70%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，高影响力项目月均提交次数均超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100 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次，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Issue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关闭率≥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80%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466496" y="3442202"/>
            <a:ext cx="43750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Python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、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JavaScript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近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12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个月环比增长率均值分别为 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5.2%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、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4.8%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，保持稳定主导；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Go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、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Rust 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增长率均值分别为 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12.5%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、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10.8%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，发展潜力巨大；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AI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、区块链相关技术领域增长率较高，受生态关注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466496" y="5008332"/>
            <a:ext cx="43750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Python 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项目平均 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Stars 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最高（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18.2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万）；存活超 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5 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年的项目平均影响力（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7.8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分）显著高于不足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3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年的项目（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4.5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分）；贡献者超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1000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人的项目月均提交次数达 </a:t>
            </a:r>
            <a:r>
              <a: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230</a:t>
            </a:r>
            <a:r>
              <a:rPr lang="zh-CN" alt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次，远高于小众项目。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6542173" y="1659619"/>
            <a:ext cx="2294021" cy="354924"/>
          </a:xfrm>
          <a:prstGeom prst="roundRect">
            <a:avLst/>
          </a:prstGeom>
          <a:solidFill>
            <a:srgbClr val="1C488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>
                <a:latin typeface="FZZhengHeiS-DB-GB" panose="02000000000000000000" pitchFamily="2" charset="0"/>
                <a:ea typeface="FZZhengHeiS-DB-GB" panose="02000000000000000000" pitchFamily="2" charset="0"/>
              </a:rPr>
              <a:t>开源项目影响力排名</a:t>
            </a:r>
            <a:endParaRPr lang="zh-CN" altLang="en-US" dirty="0"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6542173" y="3056513"/>
            <a:ext cx="1678147" cy="354924"/>
          </a:xfrm>
          <a:prstGeom prst="roundRect">
            <a:avLst/>
          </a:prstGeom>
          <a:solidFill>
            <a:srgbClr val="1C488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>
                <a:latin typeface="FZZhengHeiS-DB-GB" panose="02000000000000000000" pitchFamily="2" charset="0"/>
                <a:ea typeface="FZZhengHeiS-DB-GB" panose="02000000000000000000" pitchFamily="2" charset="0"/>
              </a:rPr>
              <a:t>技术趋势洞察</a:t>
            </a:r>
            <a:endParaRPr lang="zh-CN" altLang="en-US" dirty="0"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6542173" y="4629959"/>
            <a:ext cx="2014697" cy="354924"/>
          </a:xfrm>
          <a:prstGeom prst="roundRect">
            <a:avLst/>
          </a:prstGeom>
          <a:solidFill>
            <a:srgbClr val="1C488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>
                <a:latin typeface="FZZhengHeiS-DB-GB" panose="02000000000000000000" pitchFamily="2" charset="0"/>
                <a:ea typeface="FZZhengHeiS-DB-GB" panose="02000000000000000000" pitchFamily="2" charset="0"/>
              </a:rPr>
              <a:t>多维度统计结论</a:t>
            </a:r>
            <a:endParaRPr lang="zh-CN" altLang="en-US" dirty="0"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528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43715-AF07-5D1B-1D16-AD45C5DFD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E6DFC74-F6AF-F776-2B95-F9C2B04AAC4D}"/>
              </a:ext>
            </a:extLst>
          </p:cNvPr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1336C8B-7347-DF23-34BF-E8AB3B7E54D1}"/>
              </a:ext>
            </a:extLst>
          </p:cNvPr>
          <p:cNvSpPr/>
          <p:nvPr/>
        </p:nvSpPr>
        <p:spPr>
          <a:xfrm>
            <a:off x="9984658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716147E-EB35-102C-1FB8-89E26E9FE9BE}"/>
              </a:ext>
            </a:extLst>
          </p:cNvPr>
          <p:cNvSpPr/>
          <p:nvPr/>
        </p:nvSpPr>
        <p:spPr>
          <a:xfrm>
            <a:off x="403122" y="449825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rgbClr val="02615A">
                <a:alpha val="3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726C05C-2A51-BFE0-9FAC-28560054BF6F}"/>
              </a:ext>
            </a:extLst>
          </p:cNvPr>
          <p:cNvSpPr/>
          <p:nvPr/>
        </p:nvSpPr>
        <p:spPr>
          <a:xfrm>
            <a:off x="1887301" y="2420811"/>
            <a:ext cx="1592179" cy="1592179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b="1" dirty="0">
                <a:solidFill>
                  <a:schemeClr val="bg1"/>
                </a:solidFill>
                <a:latin typeface="FuturaBookC" pitchFamily="2" charset="-52"/>
              </a:rPr>
              <a:t>5</a:t>
            </a:r>
            <a:endParaRPr lang="zh-CN" altLang="en-US" sz="13800" b="1" dirty="0">
              <a:solidFill>
                <a:schemeClr val="bg1"/>
              </a:solidFill>
              <a:latin typeface="FuturaBookC" pitchFamily="2" charset="-5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050795D-96CF-7FAA-836A-2DA9BF151AB3}"/>
              </a:ext>
            </a:extLst>
          </p:cNvPr>
          <p:cNvSpPr txBox="1"/>
          <p:nvPr/>
        </p:nvSpPr>
        <p:spPr>
          <a:xfrm>
            <a:off x="4470635" y="2659559"/>
            <a:ext cx="57603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项目价值及应用</a:t>
            </a:r>
            <a:endParaRPr lang="zh-CN" altLang="en-US" sz="4400" dirty="0">
              <a:solidFill>
                <a:srgbClr val="1C4885"/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26B1077-7A20-6E3D-FE56-004382E2D147}"/>
              </a:ext>
            </a:extLst>
          </p:cNvPr>
          <p:cNvCxnSpPr/>
          <p:nvPr/>
        </p:nvCxnSpPr>
        <p:spPr>
          <a:xfrm>
            <a:off x="4657204" y="3667747"/>
            <a:ext cx="1112406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807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04648" y="409927"/>
            <a:ext cx="253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核心价值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04650" y="840662"/>
            <a:ext cx="1584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FuturaBookC" charset="-52"/>
                <a:ea typeface="微软雅黑" panose="020B0503020204020204" pitchFamily="34" charset="-122"/>
              </a:rPr>
              <a:t>CORE VALUES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FuturaBookC" charset="-5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5219772" y="3733798"/>
            <a:ext cx="1752456" cy="1754999"/>
          </a:xfrm>
          <a:prstGeom prst="roundRect">
            <a:avLst>
              <a:gd name="adj" fmla="val 9951"/>
            </a:avLst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5219772" y="3148799"/>
            <a:ext cx="1752456" cy="1754999"/>
          </a:xfrm>
          <a:prstGeom prst="roundRect">
            <a:avLst>
              <a:gd name="adj" fmla="val 9951"/>
            </a:avLst>
          </a:prstGeom>
          <a:solidFill>
            <a:srgbClr val="1C4885"/>
          </a:solidFill>
          <a:ln>
            <a:noFill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5219772" y="2563799"/>
            <a:ext cx="1752456" cy="1754999"/>
          </a:xfrm>
          <a:prstGeom prst="roundRect">
            <a:avLst>
              <a:gd name="adj" fmla="val 9951"/>
            </a:avLst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219772" y="1978799"/>
            <a:ext cx="1752456" cy="1754999"/>
          </a:xfrm>
          <a:prstGeom prst="roundRect">
            <a:avLst>
              <a:gd name="adj" fmla="val 9951"/>
            </a:avLst>
          </a:prstGeom>
          <a:solidFill>
            <a:srgbClr val="1C4885"/>
          </a:solidFill>
          <a:ln>
            <a:noFill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3753850" y="2165682"/>
            <a:ext cx="609600" cy="609600"/>
          </a:xfrm>
          <a:prstGeom prst="ellipse">
            <a:avLst/>
          </a:prstGeom>
          <a:solidFill>
            <a:srgbClr val="1C488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3753850" y="4318798"/>
            <a:ext cx="609600" cy="609600"/>
          </a:xfrm>
          <a:prstGeom prst="ellipse">
            <a:avLst/>
          </a:prstGeom>
          <a:solidFill>
            <a:srgbClr val="1C488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7684172" y="4318798"/>
            <a:ext cx="609600" cy="609600"/>
          </a:xfrm>
          <a:prstGeom prst="ellipse">
            <a:avLst/>
          </a:prstGeom>
          <a:solidFill>
            <a:srgbClr val="1C488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7684172" y="2165682"/>
            <a:ext cx="609600" cy="609600"/>
          </a:xfrm>
          <a:prstGeom prst="ellipse">
            <a:avLst/>
          </a:prstGeom>
          <a:solidFill>
            <a:srgbClr val="1C488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412523" y="2074650"/>
            <a:ext cx="2225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量化价值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72443" y="2413204"/>
            <a:ext cx="28651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构建统一的开源项目影响力评估体系，突破单一指标局限，为价值判断提供科学参考。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428565" y="4198432"/>
            <a:ext cx="2225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defRPr>
                <a:solidFill>
                  <a:schemeClr val="bg1"/>
                </a:solidFill>
                <a:effectLst>
                  <a:outerShdw blurRad="152400" dist="50800" dir="5400000" algn="ctr" rotWithShape="0">
                    <a:schemeClr val="tx1"/>
                  </a:outerShdw>
                </a:effectLst>
                <a:latin typeface="FZZhengHeiS-DB-GB" panose="02000000000000000000" pitchFamily="2" charset="0"/>
                <a:ea typeface="FZZhengHeiS-DB-GB" panose="02000000000000000000" pitchFamily="2" charset="0"/>
              </a:defRPr>
            </a:lvl1pPr>
          </a:lstStyle>
          <a:p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洞察价值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88485" y="4536986"/>
            <a:ext cx="28651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通过深度数据挖掘与趋势预测，揭示开源生态技术发展规律，提供前瞻性技术洞察。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399126" y="2074352"/>
            <a:ext cx="2225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效率价值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399126" y="2429792"/>
            <a:ext cx="28651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通过交互式可视化与智能问答，简化数据检索与分析流程，降低用户获取有效信息的时间成本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444816" y="4260953"/>
            <a:ext cx="2225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defRPr>
                <a:solidFill>
                  <a:schemeClr val="bg1"/>
                </a:solidFill>
                <a:effectLst>
                  <a:outerShdw blurRad="152400" dist="50800" dir="5400000" algn="ctr" rotWithShape="0">
                    <a:schemeClr val="tx1"/>
                  </a:outerShdw>
                </a:effectLst>
                <a:latin typeface="FZZhengHeiS-DB-GB" panose="02000000000000000000" pitchFamily="2" charset="0"/>
                <a:ea typeface="FZZhengHeiS-DB-GB" panose="02000000000000000000" pitchFamily="2" charset="0"/>
              </a:defRPr>
            </a:lvl1pPr>
          </a:lstStyle>
          <a:p>
            <a:pPr algn="l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技术价值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444816" y="4616393"/>
            <a:ext cx="28651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实现了从数据处理到网站搭建到交互式设计，反映了数据思维的实践过程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992" y="2283624"/>
            <a:ext cx="381216" cy="38121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2703" y="4415028"/>
            <a:ext cx="392538" cy="39253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752" y="4415028"/>
            <a:ext cx="392538" cy="392538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8070" y="2283624"/>
            <a:ext cx="392538" cy="39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67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04648" y="409927"/>
            <a:ext cx="253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典型应用场景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04649" y="840662"/>
            <a:ext cx="22515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FuturaBookC" charset="-52"/>
                <a:ea typeface="微软雅黑" panose="020B0503020204020204" pitchFamily="34" charset="-122"/>
              </a:rPr>
              <a:t>APPLICATION SENARIO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FuturaBookC" charset="-5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 7"/>
          <p:cNvSpPr/>
          <p:nvPr/>
        </p:nvSpPr>
        <p:spPr>
          <a:xfrm rot="5400000">
            <a:off x="3275465" y="206176"/>
            <a:ext cx="762001" cy="4439191"/>
          </a:xfrm>
          <a:custGeom>
            <a:avLst/>
            <a:gdLst>
              <a:gd name="connsiteX0" fmla="*/ 70116 w 762001"/>
              <a:gd name="connsiteY0" fmla="*/ 4052106 h 4439191"/>
              <a:gd name="connsiteX1" fmla="*/ 381001 w 762001"/>
              <a:gd name="connsiteY1" fmla="*/ 4362991 h 4439191"/>
              <a:gd name="connsiteX2" fmla="*/ 691886 w 762001"/>
              <a:gd name="connsiteY2" fmla="*/ 4052106 h 4439191"/>
              <a:gd name="connsiteX3" fmla="*/ 381001 w 762001"/>
              <a:gd name="connsiteY3" fmla="*/ 3741221 h 4439191"/>
              <a:gd name="connsiteX4" fmla="*/ 70116 w 762001"/>
              <a:gd name="connsiteY4" fmla="*/ 4052106 h 4439191"/>
              <a:gd name="connsiteX5" fmla="*/ 0 w 762001"/>
              <a:gd name="connsiteY5" fmla="*/ 4058191 h 4439191"/>
              <a:gd name="connsiteX6" fmla="*/ 0 w 762001"/>
              <a:gd name="connsiteY6" fmla="*/ 514891 h 4439191"/>
              <a:gd name="connsiteX7" fmla="*/ 232698 w 762001"/>
              <a:gd name="connsiteY7" fmla="*/ 163832 h 4439191"/>
              <a:gd name="connsiteX8" fmla="*/ 293045 w 762001"/>
              <a:gd name="connsiteY8" fmla="*/ 151648 h 4439191"/>
              <a:gd name="connsiteX9" fmla="*/ 381001 w 762001"/>
              <a:gd name="connsiteY9" fmla="*/ 0 h 4439191"/>
              <a:gd name="connsiteX10" fmla="*/ 468957 w 762001"/>
              <a:gd name="connsiteY10" fmla="*/ 151648 h 4439191"/>
              <a:gd name="connsiteX11" fmla="*/ 529303 w 762001"/>
              <a:gd name="connsiteY11" fmla="*/ 163832 h 4439191"/>
              <a:gd name="connsiteX12" fmla="*/ 762001 w 762001"/>
              <a:gd name="connsiteY12" fmla="*/ 514891 h 4439191"/>
              <a:gd name="connsiteX13" fmla="*/ 762001 w 762001"/>
              <a:gd name="connsiteY13" fmla="*/ 4058191 h 4439191"/>
              <a:gd name="connsiteX14" fmla="*/ 381001 w 762001"/>
              <a:gd name="connsiteY14" fmla="*/ 4439191 h 4439191"/>
              <a:gd name="connsiteX15" fmla="*/ 0 w 762001"/>
              <a:gd name="connsiteY15" fmla="*/ 4058191 h 4439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62001" h="4439191">
                <a:moveTo>
                  <a:pt x="70116" y="4052106"/>
                </a:moveTo>
                <a:cubicBezTo>
                  <a:pt x="70116" y="4223803"/>
                  <a:pt x="209304" y="4362991"/>
                  <a:pt x="381001" y="4362991"/>
                </a:cubicBezTo>
                <a:cubicBezTo>
                  <a:pt x="552698" y="4362991"/>
                  <a:pt x="691886" y="4223803"/>
                  <a:pt x="691886" y="4052106"/>
                </a:cubicBezTo>
                <a:cubicBezTo>
                  <a:pt x="691886" y="3880409"/>
                  <a:pt x="552698" y="3741221"/>
                  <a:pt x="381001" y="3741221"/>
                </a:cubicBezTo>
                <a:cubicBezTo>
                  <a:pt x="209304" y="3741221"/>
                  <a:pt x="70116" y="3880409"/>
                  <a:pt x="70116" y="4052106"/>
                </a:cubicBezTo>
                <a:close/>
                <a:moveTo>
                  <a:pt x="0" y="4058191"/>
                </a:moveTo>
                <a:lnTo>
                  <a:pt x="0" y="514891"/>
                </a:lnTo>
                <a:cubicBezTo>
                  <a:pt x="0" y="357076"/>
                  <a:pt x="95952" y="221671"/>
                  <a:pt x="232698" y="163832"/>
                </a:cubicBezTo>
                <a:lnTo>
                  <a:pt x="293045" y="151648"/>
                </a:lnTo>
                <a:lnTo>
                  <a:pt x="381001" y="0"/>
                </a:lnTo>
                <a:lnTo>
                  <a:pt x="468957" y="151648"/>
                </a:lnTo>
                <a:lnTo>
                  <a:pt x="529303" y="163832"/>
                </a:lnTo>
                <a:cubicBezTo>
                  <a:pt x="666049" y="221671"/>
                  <a:pt x="762001" y="357076"/>
                  <a:pt x="762001" y="514891"/>
                </a:cubicBezTo>
                <a:lnTo>
                  <a:pt x="762001" y="4058191"/>
                </a:lnTo>
                <a:cubicBezTo>
                  <a:pt x="762001" y="4268611"/>
                  <a:pt x="591421" y="4439191"/>
                  <a:pt x="381001" y="4439191"/>
                </a:cubicBezTo>
                <a:cubicBezTo>
                  <a:pt x="170580" y="4439191"/>
                  <a:pt x="0" y="4268611"/>
                  <a:pt x="0" y="4058191"/>
                </a:cubicBezTo>
                <a:close/>
              </a:path>
            </a:pathLst>
          </a:cu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任意多边形 8"/>
          <p:cNvSpPr/>
          <p:nvPr/>
        </p:nvSpPr>
        <p:spPr>
          <a:xfrm rot="5400000">
            <a:off x="3275465" y="1343552"/>
            <a:ext cx="762001" cy="4439191"/>
          </a:xfrm>
          <a:custGeom>
            <a:avLst/>
            <a:gdLst>
              <a:gd name="connsiteX0" fmla="*/ 55209 w 762001"/>
              <a:gd name="connsiteY0" fmla="*/ 4052106 h 4439191"/>
              <a:gd name="connsiteX1" fmla="*/ 366094 w 762001"/>
              <a:gd name="connsiteY1" fmla="*/ 4362991 h 4439191"/>
              <a:gd name="connsiteX2" fmla="*/ 676979 w 762001"/>
              <a:gd name="connsiteY2" fmla="*/ 4052106 h 4439191"/>
              <a:gd name="connsiteX3" fmla="*/ 366094 w 762001"/>
              <a:gd name="connsiteY3" fmla="*/ 3741221 h 4439191"/>
              <a:gd name="connsiteX4" fmla="*/ 55209 w 762001"/>
              <a:gd name="connsiteY4" fmla="*/ 4052106 h 4439191"/>
              <a:gd name="connsiteX5" fmla="*/ 0 w 762001"/>
              <a:gd name="connsiteY5" fmla="*/ 4058191 h 4439191"/>
              <a:gd name="connsiteX6" fmla="*/ 0 w 762001"/>
              <a:gd name="connsiteY6" fmla="*/ 514891 h 4439191"/>
              <a:gd name="connsiteX7" fmla="*/ 232698 w 762001"/>
              <a:gd name="connsiteY7" fmla="*/ 163832 h 4439191"/>
              <a:gd name="connsiteX8" fmla="*/ 293045 w 762001"/>
              <a:gd name="connsiteY8" fmla="*/ 151648 h 4439191"/>
              <a:gd name="connsiteX9" fmla="*/ 381001 w 762001"/>
              <a:gd name="connsiteY9" fmla="*/ 0 h 4439191"/>
              <a:gd name="connsiteX10" fmla="*/ 468957 w 762001"/>
              <a:gd name="connsiteY10" fmla="*/ 151648 h 4439191"/>
              <a:gd name="connsiteX11" fmla="*/ 529303 w 762001"/>
              <a:gd name="connsiteY11" fmla="*/ 163832 h 4439191"/>
              <a:gd name="connsiteX12" fmla="*/ 762001 w 762001"/>
              <a:gd name="connsiteY12" fmla="*/ 514891 h 4439191"/>
              <a:gd name="connsiteX13" fmla="*/ 762001 w 762001"/>
              <a:gd name="connsiteY13" fmla="*/ 4058191 h 4439191"/>
              <a:gd name="connsiteX14" fmla="*/ 381001 w 762001"/>
              <a:gd name="connsiteY14" fmla="*/ 4439191 h 4439191"/>
              <a:gd name="connsiteX15" fmla="*/ 0 w 762001"/>
              <a:gd name="connsiteY15" fmla="*/ 4058191 h 4439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62001" h="4439191">
                <a:moveTo>
                  <a:pt x="55209" y="4052106"/>
                </a:moveTo>
                <a:cubicBezTo>
                  <a:pt x="55209" y="4223803"/>
                  <a:pt x="194397" y="4362991"/>
                  <a:pt x="366094" y="4362991"/>
                </a:cubicBezTo>
                <a:cubicBezTo>
                  <a:pt x="537791" y="4362991"/>
                  <a:pt x="676979" y="4223803"/>
                  <a:pt x="676979" y="4052106"/>
                </a:cubicBezTo>
                <a:cubicBezTo>
                  <a:pt x="676979" y="3880409"/>
                  <a:pt x="537791" y="3741221"/>
                  <a:pt x="366094" y="3741221"/>
                </a:cubicBezTo>
                <a:cubicBezTo>
                  <a:pt x="194397" y="3741221"/>
                  <a:pt x="55209" y="3880409"/>
                  <a:pt x="55209" y="4052106"/>
                </a:cubicBezTo>
                <a:close/>
                <a:moveTo>
                  <a:pt x="0" y="4058191"/>
                </a:moveTo>
                <a:lnTo>
                  <a:pt x="0" y="514891"/>
                </a:lnTo>
                <a:cubicBezTo>
                  <a:pt x="0" y="357076"/>
                  <a:pt x="95952" y="221671"/>
                  <a:pt x="232698" y="163832"/>
                </a:cubicBezTo>
                <a:lnTo>
                  <a:pt x="293045" y="151648"/>
                </a:lnTo>
                <a:lnTo>
                  <a:pt x="381001" y="0"/>
                </a:lnTo>
                <a:lnTo>
                  <a:pt x="468957" y="151648"/>
                </a:lnTo>
                <a:lnTo>
                  <a:pt x="529303" y="163832"/>
                </a:lnTo>
                <a:cubicBezTo>
                  <a:pt x="666049" y="221671"/>
                  <a:pt x="762001" y="357076"/>
                  <a:pt x="762001" y="514891"/>
                </a:cubicBezTo>
                <a:lnTo>
                  <a:pt x="762001" y="4058191"/>
                </a:lnTo>
                <a:cubicBezTo>
                  <a:pt x="762001" y="4268611"/>
                  <a:pt x="591421" y="4439191"/>
                  <a:pt x="381001" y="4439191"/>
                </a:cubicBezTo>
                <a:cubicBezTo>
                  <a:pt x="170580" y="4439191"/>
                  <a:pt x="0" y="4268611"/>
                  <a:pt x="0" y="4058191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任意多边形 9"/>
          <p:cNvSpPr/>
          <p:nvPr/>
        </p:nvSpPr>
        <p:spPr>
          <a:xfrm rot="16200000">
            <a:off x="8227558" y="624453"/>
            <a:ext cx="762001" cy="4439191"/>
          </a:xfrm>
          <a:custGeom>
            <a:avLst/>
            <a:gdLst>
              <a:gd name="connsiteX0" fmla="*/ 691886 w 762001"/>
              <a:gd name="connsiteY0" fmla="*/ 4058191 h 4439191"/>
              <a:gd name="connsiteX1" fmla="*/ 381001 w 762001"/>
              <a:gd name="connsiteY1" fmla="*/ 3747306 h 4439191"/>
              <a:gd name="connsiteX2" fmla="*/ 70116 w 762001"/>
              <a:gd name="connsiteY2" fmla="*/ 4058191 h 4439191"/>
              <a:gd name="connsiteX3" fmla="*/ 381001 w 762001"/>
              <a:gd name="connsiteY3" fmla="*/ 4369076 h 4439191"/>
              <a:gd name="connsiteX4" fmla="*/ 691886 w 762001"/>
              <a:gd name="connsiteY4" fmla="*/ 4058191 h 4439191"/>
              <a:gd name="connsiteX5" fmla="*/ 762001 w 762001"/>
              <a:gd name="connsiteY5" fmla="*/ 514891 h 4439191"/>
              <a:gd name="connsiteX6" fmla="*/ 762001 w 762001"/>
              <a:gd name="connsiteY6" fmla="*/ 4058191 h 4439191"/>
              <a:gd name="connsiteX7" fmla="*/ 381001 w 762001"/>
              <a:gd name="connsiteY7" fmla="*/ 4439191 h 4439191"/>
              <a:gd name="connsiteX8" fmla="*/ 0 w 762001"/>
              <a:gd name="connsiteY8" fmla="*/ 4058191 h 4439191"/>
              <a:gd name="connsiteX9" fmla="*/ 0 w 762001"/>
              <a:gd name="connsiteY9" fmla="*/ 514891 h 4439191"/>
              <a:gd name="connsiteX10" fmla="*/ 232698 w 762001"/>
              <a:gd name="connsiteY10" fmla="*/ 163832 h 4439191"/>
              <a:gd name="connsiteX11" fmla="*/ 293045 w 762001"/>
              <a:gd name="connsiteY11" fmla="*/ 151648 h 4439191"/>
              <a:gd name="connsiteX12" fmla="*/ 381001 w 762001"/>
              <a:gd name="connsiteY12" fmla="*/ 0 h 4439191"/>
              <a:gd name="connsiteX13" fmla="*/ 468957 w 762001"/>
              <a:gd name="connsiteY13" fmla="*/ 151648 h 4439191"/>
              <a:gd name="connsiteX14" fmla="*/ 529303 w 762001"/>
              <a:gd name="connsiteY14" fmla="*/ 163832 h 4439191"/>
              <a:gd name="connsiteX15" fmla="*/ 762001 w 762001"/>
              <a:gd name="connsiteY15" fmla="*/ 514891 h 4439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62001" h="4439191">
                <a:moveTo>
                  <a:pt x="691886" y="4058191"/>
                </a:moveTo>
                <a:cubicBezTo>
                  <a:pt x="691886" y="3886494"/>
                  <a:pt x="552698" y="3747306"/>
                  <a:pt x="381001" y="3747306"/>
                </a:cubicBezTo>
                <a:cubicBezTo>
                  <a:pt x="209304" y="3747306"/>
                  <a:pt x="70116" y="3886494"/>
                  <a:pt x="70116" y="4058191"/>
                </a:cubicBezTo>
                <a:cubicBezTo>
                  <a:pt x="70116" y="4229888"/>
                  <a:pt x="209304" y="4369076"/>
                  <a:pt x="381001" y="4369076"/>
                </a:cubicBezTo>
                <a:cubicBezTo>
                  <a:pt x="552698" y="4369076"/>
                  <a:pt x="691886" y="4229888"/>
                  <a:pt x="691886" y="4058191"/>
                </a:cubicBezTo>
                <a:close/>
                <a:moveTo>
                  <a:pt x="762001" y="514891"/>
                </a:moveTo>
                <a:lnTo>
                  <a:pt x="762001" y="4058191"/>
                </a:lnTo>
                <a:cubicBezTo>
                  <a:pt x="762001" y="4268611"/>
                  <a:pt x="591421" y="4439191"/>
                  <a:pt x="381001" y="4439191"/>
                </a:cubicBezTo>
                <a:cubicBezTo>
                  <a:pt x="170580" y="4439191"/>
                  <a:pt x="0" y="4268611"/>
                  <a:pt x="0" y="4058191"/>
                </a:cubicBezTo>
                <a:lnTo>
                  <a:pt x="0" y="514891"/>
                </a:lnTo>
                <a:cubicBezTo>
                  <a:pt x="0" y="357076"/>
                  <a:pt x="95952" y="221671"/>
                  <a:pt x="232698" y="163832"/>
                </a:cubicBezTo>
                <a:lnTo>
                  <a:pt x="293045" y="151648"/>
                </a:lnTo>
                <a:lnTo>
                  <a:pt x="381001" y="0"/>
                </a:lnTo>
                <a:lnTo>
                  <a:pt x="468957" y="151648"/>
                </a:lnTo>
                <a:lnTo>
                  <a:pt x="529303" y="163832"/>
                </a:lnTo>
                <a:cubicBezTo>
                  <a:pt x="666049" y="221671"/>
                  <a:pt x="762001" y="357076"/>
                  <a:pt x="762001" y="514891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任意多边形 10"/>
          <p:cNvSpPr/>
          <p:nvPr/>
        </p:nvSpPr>
        <p:spPr>
          <a:xfrm rot="16200000">
            <a:off x="8227558" y="1785607"/>
            <a:ext cx="762001" cy="4439191"/>
          </a:xfrm>
          <a:custGeom>
            <a:avLst/>
            <a:gdLst>
              <a:gd name="connsiteX0" fmla="*/ 691886 w 762001"/>
              <a:gd name="connsiteY0" fmla="*/ 4058191 h 4439191"/>
              <a:gd name="connsiteX1" fmla="*/ 381001 w 762001"/>
              <a:gd name="connsiteY1" fmla="*/ 3747306 h 4439191"/>
              <a:gd name="connsiteX2" fmla="*/ 70116 w 762001"/>
              <a:gd name="connsiteY2" fmla="*/ 4058191 h 4439191"/>
              <a:gd name="connsiteX3" fmla="*/ 381001 w 762001"/>
              <a:gd name="connsiteY3" fmla="*/ 4369076 h 4439191"/>
              <a:gd name="connsiteX4" fmla="*/ 691886 w 762001"/>
              <a:gd name="connsiteY4" fmla="*/ 4058191 h 4439191"/>
              <a:gd name="connsiteX5" fmla="*/ 762001 w 762001"/>
              <a:gd name="connsiteY5" fmla="*/ 514891 h 4439191"/>
              <a:gd name="connsiteX6" fmla="*/ 762001 w 762001"/>
              <a:gd name="connsiteY6" fmla="*/ 4058191 h 4439191"/>
              <a:gd name="connsiteX7" fmla="*/ 381001 w 762001"/>
              <a:gd name="connsiteY7" fmla="*/ 4439191 h 4439191"/>
              <a:gd name="connsiteX8" fmla="*/ 0 w 762001"/>
              <a:gd name="connsiteY8" fmla="*/ 4058191 h 4439191"/>
              <a:gd name="connsiteX9" fmla="*/ 0 w 762001"/>
              <a:gd name="connsiteY9" fmla="*/ 514891 h 4439191"/>
              <a:gd name="connsiteX10" fmla="*/ 232698 w 762001"/>
              <a:gd name="connsiteY10" fmla="*/ 163832 h 4439191"/>
              <a:gd name="connsiteX11" fmla="*/ 293045 w 762001"/>
              <a:gd name="connsiteY11" fmla="*/ 151648 h 4439191"/>
              <a:gd name="connsiteX12" fmla="*/ 381001 w 762001"/>
              <a:gd name="connsiteY12" fmla="*/ 0 h 4439191"/>
              <a:gd name="connsiteX13" fmla="*/ 468957 w 762001"/>
              <a:gd name="connsiteY13" fmla="*/ 151648 h 4439191"/>
              <a:gd name="connsiteX14" fmla="*/ 529303 w 762001"/>
              <a:gd name="connsiteY14" fmla="*/ 163832 h 4439191"/>
              <a:gd name="connsiteX15" fmla="*/ 762001 w 762001"/>
              <a:gd name="connsiteY15" fmla="*/ 514891 h 4439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62001" h="4439191">
                <a:moveTo>
                  <a:pt x="691886" y="4058191"/>
                </a:moveTo>
                <a:cubicBezTo>
                  <a:pt x="691886" y="3886494"/>
                  <a:pt x="552698" y="3747306"/>
                  <a:pt x="381001" y="3747306"/>
                </a:cubicBezTo>
                <a:cubicBezTo>
                  <a:pt x="209304" y="3747306"/>
                  <a:pt x="70116" y="3886494"/>
                  <a:pt x="70116" y="4058191"/>
                </a:cubicBezTo>
                <a:cubicBezTo>
                  <a:pt x="70116" y="4229888"/>
                  <a:pt x="209304" y="4369076"/>
                  <a:pt x="381001" y="4369076"/>
                </a:cubicBezTo>
                <a:cubicBezTo>
                  <a:pt x="552698" y="4369076"/>
                  <a:pt x="691886" y="4229888"/>
                  <a:pt x="691886" y="4058191"/>
                </a:cubicBezTo>
                <a:close/>
                <a:moveTo>
                  <a:pt x="762001" y="514891"/>
                </a:moveTo>
                <a:lnTo>
                  <a:pt x="762001" y="4058191"/>
                </a:lnTo>
                <a:cubicBezTo>
                  <a:pt x="762001" y="4268611"/>
                  <a:pt x="591421" y="4439191"/>
                  <a:pt x="381001" y="4439191"/>
                </a:cubicBezTo>
                <a:cubicBezTo>
                  <a:pt x="170580" y="4439191"/>
                  <a:pt x="0" y="4268611"/>
                  <a:pt x="0" y="4058191"/>
                </a:cubicBezTo>
                <a:lnTo>
                  <a:pt x="0" y="514891"/>
                </a:lnTo>
                <a:cubicBezTo>
                  <a:pt x="0" y="357076"/>
                  <a:pt x="95952" y="221671"/>
                  <a:pt x="232698" y="163832"/>
                </a:cubicBezTo>
                <a:lnTo>
                  <a:pt x="293045" y="151648"/>
                </a:lnTo>
                <a:lnTo>
                  <a:pt x="381001" y="0"/>
                </a:lnTo>
                <a:lnTo>
                  <a:pt x="468957" y="151648"/>
                </a:lnTo>
                <a:lnTo>
                  <a:pt x="529303" y="163832"/>
                </a:lnTo>
                <a:cubicBezTo>
                  <a:pt x="666049" y="221671"/>
                  <a:pt x="762001" y="357076"/>
                  <a:pt x="762001" y="514891"/>
                </a:cubicBezTo>
                <a:close/>
              </a:path>
            </a:pathLst>
          </a:cu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211040" y="2150603"/>
            <a:ext cx="2865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开发者：选择优质技术栈与开源项目，寻找贡献切入点</a:t>
            </a:r>
            <a:endParaRPr lang="zh-CN" altLang="en-US" sz="1400" dirty="0">
              <a:solidFill>
                <a:schemeClr val="bg1"/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985670" y="3743592"/>
            <a:ext cx="2865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>
                <a:solidFill>
                  <a:schemeClr val="bg1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研究者：获取结构化数据，提升研究报告专业性</a:t>
            </a:r>
            <a:endParaRPr lang="zh-CN" altLang="en-US" sz="1400" dirty="0">
              <a:solidFill>
                <a:schemeClr val="bg1"/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985670" y="2590424"/>
            <a:ext cx="2865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项目维护者：对比自身短板，制定优化与发展策略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272719" y="3286631"/>
            <a:ext cx="2865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投资人：识别高增长技术栈，评估投资项目价值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436870" y="5191302"/>
            <a:ext cx="94493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——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项目通过构建多维度的加权评分体系，结合交互式数据可视化技术，旨在搭建一个能够为开发者、开源项目维护者、行业投资人提供决策支撑的开源项目数据分析平台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431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6A59F-B89E-3B20-6763-96DF0E219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CF8E244-08EE-972F-FF94-F1E62D502E03}"/>
              </a:ext>
            </a:extLst>
          </p:cNvPr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358421-3DBB-8DA3-73D0-1ED08D3D9DA3}"/>
              </a:ext>
            </a:extLst>
          </p:cNvPr>
          <p:cNvSpPr/>
          <p:nvPr/>
        </p:nvSpPr>
        <p:spPr>
          <a:xfrm>
            <a:off x="9984658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44EEAEE4-ED71-D125-BDF3-F28EDCCF81D4}"/>
              </a:ext>
            </a:extLst>
          </p:cNvPr>
          <p:cNvSpPr/>
          <p:nvPr/>
        </p:nvSpPr>
        <p:spPr>
          <a:xfrm>
            <a:off x="403122" y="449825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rgbClr val="02615A">
                <a:alpha val="3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D32CD2D-9A95-000A-7641-744A259078D6}"/>
              </a:ext>
            </a:extLst>
          </p:cNvPr>
          <p:cNvSpPr/>
          <p:nvPr/>
        </p:nvSpPr>
        <p:spPr>
          <a:xfrm>
            <a:off x="1887301" y="2420811"/>
            <a:ext cx="1592179" cy="1592179"/>
          </a:xfrm>
          <a:prstGeom prst="ellipse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800" b="1" dirty="0">
                <a:solidFill>
                  <a:schemeClr val="bg1"/>
                </a:solidFill>
                <a:latin typeface="FuturaBookC" pitchFamily="2" charset="-52"/>
              </a:rPr>
              <a:t>6</a:t>
            </a:r>
            <a:endParaRPr lang="zh-CN" altLang="en-US" sz="13800" b="1" dirty="0">
              <a:solidFill>
                <a:schemeClr val="bg1"/>
              </a:solidFill>
              <a:latin typeface="FuturaBookC" pitchFamily="2" charset="-5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214B76D-397A-E6FA-AABE-516578FCC026}"/>
              </a:ext>
            </a:extLst>
          </p:cNvPr>
          <p:cNvSpPr txBox="1"/>
          <p:nvPr/>
        </p:nvSpPr>
        <p:spPr>
          <a:xfrm>
            <a:off x="4470635" y="2659559"/>
            <a:ext cx="57603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项目优势及展望</a:t>
            </a:r>
            <a:endParaRPr lang="zh-CN" altLang="en-US" sz="4400" dirty="0">
              <a:solidFill>
                <a:srgbClr val="1C4885"/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7F75B2B-F760-C06A-645C-7719CCE9E651}"/>
              </a:ext>
            </a:extLst>
          </p:cNvPr>
          <p:cNvCxnSpPr/>
          <p:nvPr/>
        </p:nvCxnSpPr>
        <p:spPr>
          <a:xfrm>
            <a:off x="4657204" y="3667747"/>
            <a:ext cx="1112406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699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6110536" y="2064773"/>
            <a:ext cx="5388077" cy="3815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04648" y="409927"/>
            <a:ext cx="2841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项目优势及展望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04649" y="840662"/>
            <a:ext cx="2772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FuturaBookC" charset="-52"/>
                <a:ea typeface="微软雅黑" panose="020B0503020204020204" pitchFamily="34" charset="-122"/>
              </a:rPr>
              <a:t>ADVANTAGES AND PROSPECTS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FuturaBookC" charset="-5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96413" y="457203"/>
            <a:ext cx="0" cy="632244"/>
          </a:xfrm>
          <a:prstGeom prst="line">
            <a:avLst/>
          </a:prstGeom>
          <a:ln w="76200">
            <a:solidFill>
              <a:srgbClr val="1C48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707923" y="2064774"/>
            <a:ext cx="5388077" cy="3815324"/>
          </a:xfrm>
          <a:prstGeom prst="rect">
            <a:avLst/>
          </a:prstGeom>
          <a:solidFill>
            <a:srgbClr val="1C48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224546" y="2417720"/>
            <a:ext cx="2864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项目优势与特色</a:t>
            </a:r>
            <a:endParaRPr lang="zh-CN" altLang="en-US" sz="2400" dirty="0">
              <a:solidFill>
                <a:schemeClr val="bg1"/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362333" y="3112251"/>
            <a:ext cx="61630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189352" y="3429000"/>
            <a:ext cx="4247107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spc="300">
                <a:solidFill>
                  <a:schemeClr val="bg1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功能特色：打造多维度、全流程开源数据分析功能体系</a:t>
            </a:r>
            <a:endParaRPr lang="en-US" altLang="zh-CN" sz="1400" spc="300">
              <a:solidFill>
                <a:schemeClr val="bg1"/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spc="300">
                <a:solidFill>
                  <a:schemeClr val="bg1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数据优势：基于</a:t>
            </a:r>
            <a:r>
              <a:rPr lang="en-US" altLang="zh-CN" sz="1400" spc="300">
                <a:solidFill>
                  <a:schemeClr val="bg1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GitHub Top300</a:t>
            </a:r>
            <a:r>
              <a:rPr lang="zh-CN" altLang="en-US" sz="1400" spc="300">
                <a:solidFill>
                  <a:schemeClr val="bg1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项目数据集，分析模型科学，处理流程标准化，结果客观可信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spc="300">
                <a:solidFill>
                  <a:schemeClr val="bg1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体验优势：界面简洁直观，引入</a:t>
            </a:r>
            <a:r>
              <a:rPr lang="en-US" altLang="zh-CN" sz="1400" spc="300">
                <a:solidFill>
                  <a:schemeClr val="bg1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SQLBot</a:t>
            </a:r>
            <a:r>
              <a:rPr lang="zh-CN" altLang="en-US" sz="1400" spc="300">
                <a:solidFill>
                  <a:schemeClr val="bg1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智能问数、</a:t>
            </a:r>
            <a:r>
              <a:rPr lang="en-US" altLang="zh-CN" sz="1400" spc="300">
                <a:solidFill>
                  <a:schemeClr val="bg1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Echarts</a:t>
            </a:r>
            <a:r>
              <a:rPr lang="zh-CN" altLang="en-US" sz="1400" spc="300">
                <a:solidFill>
                  <a:schemeClr val="bg1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交互式图表等相关工具，无需专业数据分析知识即可上手</a:t>
            </a:r>
          </a:p>
          <a:p>
            <a:endParaRPr lang="zh-CN" altLang="en-US" sz="1600" dirty="0">
              <a:solidFill>
                <a:schemeClr val="bg1"/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  <a:p>
            <a:endParaRPr lang="zh-CN" altLang="en-US" sz="1600" dirty="0">
              <a:solidFill>
                <a:schemeClr val="bg1"/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  <a:p>
            <a:endParaRPr lang="zh-CN" altLang="en-US" sz="1600" dirty="0">
              <a:solidFill>
                <a:schemeClr val="bg1"/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755541" y="2417720"/>
            <a:ext cx="2864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未来规划与展望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6893328" y="3112251"/>
            <a:ext cx="616308" cy="0"/>
          </a:xfrm>
          <a:prstGeom prst="line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6755541" y="3429000"/>
            <a:ext cx="4247107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spc="3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数据实时化：接入</a:t>
            </a:r>
            <a:r>
              <a:rPr lang="en-US" altLang="zh-CN" sz="1400" spc="3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GitHub</a:t>
            </a:r>
            <a:r>
              <a:rPr lang="zh-CN" altLang="en-US" sz="1400" spc="3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官方</a:t>
            </a:r>
            <a:r>
              <a:rPr lang="en-US" altLang="zh-CN" sz="1400" spc="3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API</a:t>
            </a:r>
            <a:r>
              <a:rPr lang="zh-CN" altLang="en-US" sz="1400" spc="3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，实现数据实时抓取与更新，保障时效性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spc="3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分析深度化：进一步开发</a:t>
            </a:r>
            <a:r>
              <a:rPr lang="en-US" altLang="zh-CN" sz="1400" spc="3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python</a:t>
            </a:r>
            <a:r>
              <a:rPr lang="zh-CN" altLang="en-US" sz="1400" spc="3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预测算法接口，采用机器学习等算法提升趋势预测精度</a:t>
            </a:r>
            <a:endParaRPr lang="en-US" altLang="zh-CN" sz="1400" spc="30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spc="3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体验个性化：开发后端用户层，用户通过个人账户登录到网站，收藏感兴趣的项目</a:t>
            </a:r>
            <a:r>
              <a:rPr lang="en-US" altLang="zh-CN" sz="1400" spc="3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/</a:t>
            </a:r>
            <a:r>
              <a:rPr lang="zh-CN" altLang="en-US" sz="1400" spc="3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编程语言</a:t>
            </a:r>
            <a:r>
              <a:rPr lang="en-US" altLang="zh-CN" sz="1400" spc="3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/</a:t>
            </a:r>
            <a:r>
              <a:rPr lang="zh-CN" altLang="en-US" sz="1400" spc="300">
                <a:solidFill>
                  <a:schemeClr val="tx1">
                    <a:lumMod val="75000"/>
                    <a:lumOff val="25000"/>
                  </a:schemeClr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技术领域，及时通知项目新信息，提供个性化推送服务</a:t>
            </a:r>
          </a:p>
          <a:p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  <a:p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  <a:p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54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984658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45805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45805" y="4866967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984658" y="294968"/>
            <a:ext cx="1961536" cy="1696064"/>
          </a:xfrm>
          <a:prstGeom prst="rect">
            <a:avLst/>
          </a:prstGeom>
          <a:solidFill>
            <a:srgbClr val="1C48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403122" y="405580"/>
            <a:ext cx="11385755" cy="5958349"/>
          </a:xfrm>
          <a:prstGeom prst="roundRect">
            <a:avLst>
              <a:gd name="adj" fmla="val 1568"/>
            </a:avLst>
          </a:prstGeom>
          <a:solidFill>
            <a:schemeClr val="bg1"/>
          </a:solidFill>
          <a:ln>
            <a:noFill/>
          </a:ln>
          <a:effectLst>
            <a:glow rad="228600">
              <a:schemeClr val="tx1">
                <a:alpha val="3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718927" y="2080651"/>
            <a:ext cx="67541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>
                <a:solidFill>
                  <a:srgbClr val="1C4885"/>
                </a:solidFill>
                <a:latin typeface="FZZhengHeiS-DB-GB" panose="02000000000000000000" pitchFamily="2" charset="0"/>
                <a:ea typeface="FZZhengHeiS-DB-GB" panose="02000000000000000000" pitchFamily="2" charset="0"/>
              </a:rPr>
              <a:t>感谢观看</a:t>
            </a:r>
            <a:endParaRPr lang="zh-CN" altLang="en-US" sz="4800" dirty="0">
              <a:solidFill>
                <a:srgbClr val="1C4885"/>
              </a:solidFill>
              <a:latin typeface="FZZhengHeiS-DB-GB" panose="02000000000000000000" pitchFamily="2" charset="0"/>
              <a:ea typeface="FZZhengHeiS-DB-GB" panose="02000000000000000000" pitchFamily="2" charset="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5401597" y="3738717"/>
            <a:ext cx="1388806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718926" y="2934617"/>
            <a:ext cx="6754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>
                <a:solidFill>
                  <a:srgbClr val="1C488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 FOR WATCHING</a:t>
            </a:r>
            <a:endParaRPr lang="zh-CN" altLang="en-US" dirty="0">
              <a:solidFill>
                <a:srgbClr val="1C488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088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蓝色简洁毕业答辩PPT模板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1415</Words>
  <Application>Microsoft Office PowerPoint</Application>
  <PresentationFormat>宽屏</PresentationFormat>
  <Paragraphs>181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FuturaBookC</vt:lpstr>
      <vt:lpstr>FZZhengHeiS-DB-GB</vt:lpstr>
      <vt:lpstr>等线</vt:lpstr>
      <vt:lpstr>等线 Light</vt:lpstr>
      <vt:lpstr>锐字逼格青春粗黑体简2.0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kan</dc:creator>
  <dc:description>http://www.ypppt.com/</dc:description>
  <cp:lastModifiedBy>2065132198@qq.com</cp:lastModifiedBy>
  <cp:revision>9</cp:revision>
  <dcterms:created xsi:type="dcterms:W3CDTF">2018-02-27T12:12:58Z</dcterms:created>
  <dcterms:modified xsi:type="dcterms:W3CDTF">2026-01-13T03:36:07Z</dcterms:modified>
</cp:coreProperties>
</file>